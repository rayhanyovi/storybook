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7.png"/><Relationship Id="rId9" Type="http://schemas.openxmlformats.org/officeDocument/2006/relationships/image" Target="../media/image-13-7.png"/><Relationship Id="rId10" Type="http://schemas.openxmlformats.org/officeDocument/2006/relationships/image" Target="../media/image-13-7.png"/><Relationship Id="rId11" Type="http://schemas.openxmlformats.org/officeDocument/2006/relationships/image" Target="../media/image-13-7.png"/><Relationship Id="rId12" Type="http://schemas.openxmlformats.org/officeDocument/2006/relationships/image" Target="../media/image-13-7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2.png"/><Relationship Id="rId4" Type="http://schemas.openxmlformats.org/officeDocument/2006/relationships/image" Target="../media/image-17-2.png"/><Relationship Id="rId5" Type="http://schemas.openxmlformats.org/officeDocument/2006/relationships/image" Target="../media/image-17-5.png"/><Relationship Id="rId6" Type="http://schemas.openxmlformats.org/officeDocument/2006/relationships/image" Target="../media/image-17-2.png"/><Relationship Id="rId7" Type="http://schemas.openxmlformats.org/officeDocument/2006/relationships/image" Target="../media/image-17-2.png"/><Relationship Id="rId8" Type="http://schemas.openxmlformats.org/officeDocument/2006/relationships/image" Target="../media/image-17-2.png"/><Relationship Id="rId9" Type="http://schemas.openxmlformats.org/officeDocument/2006/relationships/image" Target="../media/image-17-9.png"/><Relationship Id="rId10" Type="http://schemas.openxmlformats.org/officeDocument/2006/relationships/image" Target="../media/image-17-2.png"/><Relationship Id="rId11" Type="http://schemas.openxmlformats.org/officeDocument/2006/relationships/image" Target="../media/image-17-2.png"/><Relationship Id="rId12" Type="http://schemas.openxmlformats.org/officeDocument/2006/relationships/image" Target="../media/image-17-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2.png"/><Relationship Id="rId15" Type="http://schemas.openxmlformats.org/officeDocument/2006/relationships/image" Target="../media/image-17-2.png"/><Relationship Id="rId16" Type="http://schemas.openxmlformats.org/officeDocument/2006/relationships/image" Target="../media/image-17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3.png"/><Relationship Id="rId6" Type="http://schemas.openxmlformats.org/officeDocument/2006/relationships/image" Target="../media/image-22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3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3.png"/><Relationship Id="rId6" Type="http://schemas.openxmlformats.org/officeDocument/2006/relationships/image" Target="../media/image-30-4.png"/><Relationship Id="rId7" Type="http://schemas.openxmlformats.org/officeDocument/2006/relationships/image" Target="../media/image-30-3.png"/><Relationship Id="rId8" Type="http://schemas.openxmlformats.org/officeDocument/2006/relationships/image" Target="../media/image-30-4.png"/><Relationship Id="rId9" Type="http://schemas.openxmlformats.org/officeDocument/2006/relationships/image" Target="../media/image-30-3.png"/><Relationship Id="rId10" Type="http://schemas.openxmlformats.org/officeDocument/2006/relationships/image" Target="../media/image-30-4.png"/><Relationship Id="rId11" Type="http://schemas.openxmlformats.org/officeDocument/2006/relationships/image" Target="../media/image-30-3.png"/><Relationship Id="rId12" Type="http://schemas.openxmlformats.org/officeDocument/2006/relationships/image" Target="../media/image-30-4.png"/><Relationship Id="rId13" Type="http://schemas.openxmlformats.org/officeDocument/2006/relationships/image" Target="../media/image-30-3.png"/><Relationship Id="rId14" Type="http://schemas.openxmlformats.org/officeDocument/2006/relationships/image" Target="../media/image-30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960120"/>
            <a:ext cx="4160520" cy="4160520"/>
          </a:xfrm>
          <a:prstGeom prst="ellipse">
            <a:avLst/>
          </a:prstGeom>
          <a:solidFill>
            <a:srgbClr val="FFEFC4"/>
          </a:solidFill>
          <a:ln/>
        </p:spPr>
      </p:sp>
      <p:sp>
        <p:nvSpPr>
          <p:cNvPr id="3" name="Shape 1"/>
          <p:cNvSpPr/>
          <p:nvPr/>
        </p:nvSpPr>
        <p:spPr>
          <a:xfrm>
            <a:off x="7269480" y="4206240"/>
            <a:ext cx="914400" cy="914400"/>
          </a:xfrm>
          <a:prstGeom prst="ellipse">
            <a:avLst/>
          </a:prstGeom>
          <a:solidFill>
            <a:srgbClr val="D9F3EF"/>
          </a:solidFill>
          <a:ln/>
        </p:spPr>
      </p:sp>
      <p:sp>
        <p:nvSpPr>
          <p:cNvPr id="4" name="Shape 2"/>
          <p:cNvSpPr/>
          <p:nvPr/>
        </p:nvSpPr>
        <p:spPr>
          <a:xfrm>
            <a:off x="11292840" y="1325880"/>
            <a:ext cx="502920" cy="502920"/>
          </a:xfrm>
          <a:prstGeom prst="ellipse">
            <a:avLst/>
          </a:prstGeom>
          <a:solidFill>
            <a:srgbClr val="FFE3D7"/>
          </a:solidFill>
          <a:ln/>
        </p:spPr>
      </p:sp>
      <p:sp>
        <p:nvSpPr>
          <p:cNvPr id="5" name="Shape 3"/>
          <p:cNvSpPr/>
          <p:nvPr/>
        </p:nvSpPr>
        <p:spPr>
          <a:xfrm>
            <a:off x="7543800" y="1371600"/>
            <a:ext cx="365760" cy="365760"/>
          </a:xfrm>
          <a:prstGeom prst="ellipse">
            <a:avLst/>
          </a:prstGeom>
          <a:solidFill>
            <a:srgbClr val="ECE6FE"/>
          </a:solidFill>
          <a:ln/>
        </p:spPr>
      </p:sp>
      <p:pic>
        <p:nvPicPr>
          <p:cNvPr id="6" name="Image 0" descr="/home/rayhanyovi/Documents/Projects/storybook/deck/assets/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234440"/>
            <a:ext cx="4003042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1248" y="1280160"/>
            <a:ext cx="3380171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280160"/>
            <a:ext cx="338017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 DESIGN &amp; ENGINEERING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49808" y="1719072"/>
            <a:ext cx="6949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endParaRPr lang="en-US" sz="760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paid digital library for kids — parent-first, child-safe, and built around how toddlers actually are.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41248" y="4160520"/>
            <a:ext cx="2139696" cy="402336"/>
          </a:xfrm>
          <a:prstGeom prst="roundRect">
            <a:avLst>
              <a:gd name="adj" fmla="val 50000"/>
            </a:avLst>
          </a:prstGeom>
          <a:solidFill>
            <a:srgbClr val="FFFD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" y="4160520"/>
            <a:ext cx="21396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Kid · Parent · Admin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182112" y="4160520"/>
            <a:ext cx="2392070" cy="402336"/>
          </a:xfrm>
          <a:prstGeom prst="roundRect">
            <a:avLst>
              <a:gd name="adj" fmla="val 50000"/>
            </a:avLst>
          </a:prstGeom>
          <a:solidFill>
            <a:srgbClr val="FFFDF9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182112" y="4160520"/>
            <a:ext cx="239207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Subscribe + Buy-to-keep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775350" y="4160520"/>
            <a:ext cx="3065069" cy="402336"/>
          </a:xfrm>
          <a:prstGeom prst="roundRect">
            <a:avLst>
              <a:gd name="adj" fmla="val 50000"/>
            </a:avLst>
          </a:prstGeom>
          <a:solidFill>
            <a:srgbClr val="FFFDF9"/>
          </a:solidFill>
          <a:ln w="19050">
            <a:solidFill>
              <a:srgbClr val="4CB9E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75350" y="4160520"/>
            <a:ext cx="306506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React 19 · Express 5 · Postgres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41248" y="516636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Muhammad Rayhan Yovi</a:t>
            </a:r>
            <a:endParaRPr lang="en-US" sz="1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 Engineer — Technical Test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969081" cy="310896"/>
          </a:xfrm>
          <a:prstGeom prst="roundRect">
            <a:avLst>
              <a:gd name="adj" fmla="val 50000"/>
            </a:avLst>
          </a:prstGeom>
          <a:solidFill>
            <a:srgbClr val="3A2E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96908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64328" cy="603504"/>
          </a:xfrm>
          <a:prstGeom prst="roundRect">
            <a:avLst>
              <a:gd name="adj" fmla="val 1969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1856232"/>
            <a:ext cx="365760" cy="36576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7" name="Image 0" descr="/home/rayhanyovi/Documents/Projects/storybook/deck/icons/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7" y="1958645"/>
            <a:ext cx="160934" cy="1609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35024" y="1737360"/>
            <a:ext cx="548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828800" y="1737360"/>
            <a:ext cx="399272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Project Overview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product, the bet, the device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459736"/>
            <a:ext cx="5364328" cy="603504"/>
          </a:xfrm>
          <a:prstGeom prst="roundRect">
            <a:avLst>
              <a:gd name="adj" fmla="val 1969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4944" y="2578608"/>
            <a:ext cx="365760" cy="36576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2" name="Image 1" descr="/home/rayhanyovi/Documents/Projects/storybook/deck/icons/user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7" y="2681021"/>
            <a:ext cx="160934" cy="1609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35024" y="2459736"/>
            <a:ext cx="548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C4B6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1828800" y="2459736"/>
            <a:ext cx="399272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User Personas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Kid mode &amp; Parent mode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3182112"/>
            <a:ext cx="5364328" cy="603504"/>
          </a:xfrm>
          <a:prstGeom prst="roundRect">
            <a:avLst>
              <a:gd name="adj" fmla="val 1969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4944" y="3300984"/>
            <a:ext cx="365760" cy="36576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17" name="Image 2" descr="/home/rayhanyovi/Documents/Projects/storybook/deck/icons/hear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7" y="3403397"/>
            <a:ext cx="160934" cy="16093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35024" y="3182112"/>
            <a:ext cx="548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03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1828800" y="3182112"/>
            <a:ext cx="399272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Meet Oyen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mascot that ties it together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904488"/>
            <a:ext cx="5364328" cy="603504"/>
          </a:xfrm>
          <a:prstGeom prst="roundRect">
            <a:avLst>
              <a:gd name="adj" fmla="val 1969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4944" y="4023360"/>
            <a:ext cx="365760" cy="365760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22" name="Image 3" descr="/home/rayhanyovi/Documents/Projects/storybook/deck/icons/magic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7" y="4125773"/>
            <a:ext cx="160934" cy="16093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35024" y="3904488"/>
            <a:ext cx="548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04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1828800" y="3904488"/>
            <a:ext cx="399272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Design System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Color, type, components, motion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278728" y="1737360"/>
            <a:ext cx="5364328" cy="603504"/>
          </a:xfrm>
          <a:prstGeom prst="roundRect">
            <a:avLst>
              <a:gd name="adj" fmla="val 1969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425032" y="1856232"/>
            <a:ext cx="365760" cy="365760"/>
          </a:xfrm>
          <a:prstGeom prst="ellipse">
            <a:avLst/>
          </a:prstGeom>
          <a:solidFill>
            <a:srgbClr val="4CB9E7"/>
          </a:solidFill>
          <a:ln/>
        </p:spPr>
      </p:sp>
      <p:pic>
        <p:nvPicPr>
          <p:cNvPr id="27" name="Image 4" descr="/home/rayhanyovi/Documents/Projects/storybook/deck/icons/shield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444" y="1958645"/>
            <a:ext cx="160934" cy="16093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65112" y="1737360"/>
            <a:ext cx="548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B9E7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05</a:t>
            </a:r>
            <a:endParaRPr lang="en-US" sz="1900" dirty="0"/>
          </a:p>
        </p:txBody>
      </p:sp>
      <p:sp>
        <p:nvSpPr>
          <p:cNvPr id="29" name="Text 22"/>
          <p:cNvSpPr/>
          <p:nvPr/>
        </p:nvSpPr>
        <p:spPr>
          <a:xfrm>
            <a:off x="7558888" y="1737360"/>
            <a:ext cx="399272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Problems &amp; Edge Cases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 we designed against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6278728" y="2459736"/>
            <a:ext cx="5364328" cy="603504"/>
          </a:xfrm>
          <a:prstGeom prst="roundRect">
            <a:avLst>
              <a:gd name="adj" fmla="val 1969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425032" y="2578608"/>
            <a:ext cx="365760" cy="365760"/>
          </a:xfrm>
          <a:prstGeom prst="ellipse">
            <a:avLst/>
          </a:prstGeom>
          <a:solidFill>
            <a:srgbClr val="7BC950"/>
          </a:solidFill>
          <a:ln/>
        </p:spPr>
      </p:sp>
      <p:pic>
        <p:nvPicPr>
          <p:cNvPr id="32" name="Image 5" descr="/home/rayhanyovi/Documents/Projects/storybook/deck/icons/bookReader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7444" y="2681021"/>
            <a:ext cx="160934" cy="16093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65112" y="2459736"/>
            <a:ext cx="548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C95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06</a:t>
            </a:r>
            <a:endParaRPr lang="en-US" sz="1900" dirty="0"/>
          </a:p>
        </p:txBody>
      </p:sp>
      <p:sp>
        <p:nvSpPr>
          <p:cNvPr id="34" name="Text 26"/>
          <p:cNvSpPr/>
          <p:nvPr/>
        </p:nvSpPr>
        <p:spPr>
          <a:xfrm>
            <a:off x="7558888" y="2459736"/>
            <a:ext cx="399272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Features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What's built, and why it matters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6278728" y="3182112"/>
            <a:ext cx="5364328" cy="603504"/>
          </a:xfrm>
          <a:prstGeom prst="roundRect">
            <a:avLst>
              <a:gd name="adj" fmla="val 1969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25032" y="3300984"/>
            <a:ext cx="365760" cy="365760"/>
          </a:xfrm>
          <a:prstGeom prst="ellipse">
            <a:avLst/>
          </a:prstGeom>
          <a:solidFill>
            <a:srgbClr val="F2603A"/>
          </a:solidFill>
          <a:ln/>
        </p:spPr>
      </p:sp>
      <p:pic>
        <p:nvPicPr>
          <p:cNvPr id="37" name="Image 6" descr="/home/rayhanyovi/Documents/Projects/storybook/deck/icons/code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7444" y="3403397"/>
            <a:ext cx="160934" cy="160934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7065112" y="3182112"/>
            <a:ext cx="548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603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07</a:t>
            </a:r>
            <a:endParaRPr lang="en-US" sz="1900" dirty="0"/>
          </a:p>
        </p:txBody>
      </p:sp>
      <p:sp>
        <p:nvSpPr>
          <p:cNvPr id="39" name="Text 30"/>
          <p:cNvSpPr/>
          <p:nvPr/>
        </p:nvSpPr>
        <p:spPr>
          <a:xfrm>
            <a:off x="7558888" y="3182112"/>
            <a:ext cx="399272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Technical Details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Architecture, access, data model</a:t>
            </a:r>
            <a:endParaRPr lang="en-US" sz="1400" dirty="0"/>
          </a:p>
        </p:txBody>
      </p:sp>
      <p:pic>
        <p:nvPicPr>
          <p:cNvPr id="40" name="Image 7" descr="/home/rayhanyovi/Documents/Projects/storybook/deck/assets/n1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0" y="5074920"/>
            <a:ext cx="1347597" cy="137160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Agenda</a:t>
            </a:r>
            <a:endParaRPr lang="en-US" sz="900" dirty="0"/>
          </a:p>
        </p:txBody>
      </p:sp>
      <p:sp>
        <p:nvSpPr>
          <p:cNvPr id="42" name="Text 32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 library kids read, and parents pay for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6126480" cy="4343400"/>
          </a:xfrm>
          <a:prstGeom prst="roundRect">
            <a:avLst>
              <a:gd name="adj" fmla="val 336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9536" y="1938528"/>
            <a:ext cx="550468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Storybook is a cozy, tablet-first storybook library for toddlers and young kids. Parents discover and pay for safe, age-appropriate stories; children read them in a simple, delightful interface.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59536" y="3108960"/>
            <a:ext cx="512064" cy="512064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8" name="Image 0" descr="/home/rayhanyovi/Documents/Projects/storybook/deck/icons/stor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673" y="3242097"/>
            <a:ext cx="245791" cy="24579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36192" y="3054096"/>
            <a:ext cx="48280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Two ways to pay</a:t>
            </a:r>
            <a:endParaRPr lang="en-US" sz="14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Subscribe to the whole live catalog, or buy a single book to own forever.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59536" y="4023360"/>
            <a:ext cx="512064" cy="512064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1" name="Image 1" descr="/home/rayhanyovi/Documents/Projects/storybook/deck/icons/user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673" y="4156497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36192" y="3968496"/>
            <a:ext cx="48280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Three surfaces, one brand</a:t>
            </a:r>
            <a:endParaRPr lang="en-US" sz="14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Kid (default) · Parent (behind a PIN) · Admin (separate role).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59536" y="4937760"/>
            <a:ext cx="512064" cy="512064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4" name="Image 2" descr="/home/rayhanyovi/Documents/Projects/storybook/deck/icons/shiel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673" y="5070897"/>
            <a:ext cx="245791" cy="24579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36192" y="4882896"/>
            <a:ext cx="482803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Safe by construction</a:t>
            </a:r>
            <a:endParaRPr lang="en-US" sz="14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Kids never see checkout — the buy flow simply doesn't exist in their world.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040880" y="1627632"/>
            <a:ext cx="4602175" cy="1298448"/>
          </a:xfrm>
          <a:prstGeom prst="roundRect">
            <a:avLst>
              <a:gd name="adj" fmla="val 11268"/>
            </a:avLst>
          </a:prstGeom>
          <a:solidFill>
            <a:srgbClr val="2EC4B6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315200" y="2048256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/home/rayhanyovi/Documents/Projects/storybook/deck/icons/child_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072" y="216712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955280" y="1901952"/>
            <a:ext cx="3504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Kid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7955280" y="2322576"/>
            <a:ext cx="3504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Browse &amp; read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9204808" y="288950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0CE"/>
                </a:solidFill>
              </a:rPr>
              <a:t>▼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040880" y="3145536"/>
            <a:ext cx="4602175" cy="1298448"/>
          </a:xfrm>
          <a:prstGeom prst="roundRect">
            <a:avLst>
              <a:gd name="adj" fmla="val 11268"/>
            </a:avLst>
          </a:prstGeom>
          <a:solidFill>
            <a:srgbClr val="FF7B54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315200" y="35661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4" descr="/home/rayhanyovi/Documents/Projects/storybook/deck/icons/key_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4072" y="3685032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955280" y="3419856"/>
            <a:ext cx="3504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Parent</a:t>
            </a:r>
            <a:endParaRPr lang="en-US" sz="1900" dirty="0"/>
          </a:p>
        </p:txBody>
      </p:sp>
      <p:sp>
        <p:nvSpPr>
          <p:cNvPr id="26" name="Text 19"/>
          <p:cNvSpPr/>
          <p:nvPr/>
        </p:nvSpPr>
        <p:spPr>
          <a:xfrm>
            <a:off x="7955280" y="3840480"/>
            <a:ext cx="3504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Subscribe &amp; buy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9204808" y="4407408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0CE"/>
                </a:solidFill>
              </a:rPr>
              <a:t>▼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040880" y="4663440"/>
            <a:ext cx="4602175" cy="1298448"/>
          </a:xfrm>
          <a:prstGeom prst="roundRect">
            <a:avLst>
              <a:gd name="adj" fmla="val 11268"/>
            </a:avLst>
          </a:prstGeom>
          <a:solidFill>
            <a:srgbClr val="A78BFA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315200" y="508406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5" descr="/home/rayhanyovi/Documents/Projects/storybook/deck/icons/userCog_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072" y="5202936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955280" y="4937760"/>
            <a:ext cx="3504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Admin</a:t>
            </a:r>
            <a:endParaRPr lang="en-US" sz="1900" dirty="0"/>
          </a:p>
        </p:txBody>
      </p:sp>
      <p:sp>
        <p:nvSpPr>
          <p:cNvPr id="32" name="Text 24"/>
          <p:cNvSpPr/>
          <p:nvPr/>
        </p:nvSpPr>
        <p:spPr>
          <a:xfrm>
            <a:off x="7955280" y="5358384"/>
            <a:ext cx="3504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Run the catalog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Overview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The core product bet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4297680"/>
          </a:xfrm>
          <a:prstGeom prst="roundRect">
            <a:avLst>
              <a:gd name="adj" fmla="val 3404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057400"/>
            <a:ext cx="1072683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107268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OUR BET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3E3D2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The child's delight drives </a:t>
            </a:r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engagement</a:t>
            </a:r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3E3D2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,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3E3D2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but the parent's trust drives 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2EC4B6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payment</a:t>
            </a:r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3E3D2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 and retention.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32688" y="4480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So the product is two experiences in one brand — a joyful kid surface and a controlled parent surface — separated by a PIN gate. Win the child's engagement and the parent's trust, and the monetization follows.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732520" y="2331720"/>
            <a:ext cx="2651760" cy="2651760"/>
          </a:xfrm>
          <a:prstGeom prst="ellipse">
            <a:avLst/>
          </a:prstGeom>
          <a:solidFill>
            <a:srgbClr val="4A3B33"/>
          </a:solidFill>
          <a:ln/>
        </p:spPr>
      </p:sp>
      <p:pic>
        <p:nvPicPr>
          <p:cNvPr id="11" name="Image 0" descr="/home/rayhanyovi/Documents/Projects/storybook/deck/assets/n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286000"/>
            <a:ext cx="2631881" cy="30175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Overview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Why tablet-first — knowing the buyer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852160" cy="429768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1956816"/>
            <a:ext cx="640080" cy="640080"/>
          </a:xfrm>
          <a:prstGeom prst="ellipse">
            <a:avLst/>
          </a:prstGeom>
          <a:solidFill>
            <a:srgbClr val="FFC93C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7" name="Image 0" descr="/home/rayhanyovi/Documents/Projects/storybook/deck/icons/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7" y="2123237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956816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The audience bet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77824" y="2834640"/>
            <a:ext cx="519379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parent who pays for a digital book subscription is, almost by definition, </a:t>
            </a:r>
            <a:pPr indent="0" marL="0">
              <a:lnSpc>
                <a:spcPct val="126000"/>
              </a:lnSpc>
              <a:buNone/>
            </a:pPr>
            <a:r>
              <a:rPr lang="en-US" sz="1450" b="1" dirty="0">
                <a:solidFill>
                  <a:srgbClr val="F2603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affluent enough to have bought their kid a tablet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— the “iPad kid” household.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77824" y="4114800"/>
            <a:ext cx="519379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So the child's primary device is a tablet — not the parent's phone. That single fact shaped the entire layout.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77824" y="5166360"/>
            <a:ext cx="5193792" cy="502920"/>
          </a:xfrm>
          <a:prstGeom prst="roundRect">
            <a:avLst>
              <a:gd name="adj" fmla="val 29091"/>
            </a:avLst>
          </a:prstGeom>
          <a:solidFill>
            <a:srgbClr val="FFEFC4"/>
          </a:solidFill>
          <a:ln/>
        </p:spPr>
      </p:sp>
      <p:sp>
        <p:nvSpPr>
          <p:cNvPr id="12" name="Text 9"/>
          <p:cNvSpPr/>
          <p:nvPr/>
        </p:nvSpPr>
        <p:spPr>
          <a:xfrm>
            <a:off x="877824" y="5166360"/>
            <a:ext cx="5193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Responsive order:  </a:t>
            </a:r>
            <a:pPr algn="ctr"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Tablet  </a:t>
            </a:r>
            <a:pPr algn="ctr" indent="0" marL="0">
              <a:buNone/>
            </a:pPr>
            <a:r>
              <a:rPr lang="en-US" sz="1200" b="1" dirty="0">
                <a:solidFill>
                  <a:srgbClr val="8A7A6D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&gt;  Mobile  </a:t>
            </a:r>
            <a:pPr algn="ctr" indent="0" marL="0">
              <a:buNone/>
            </a:pPr>
            <a:r>
              <a:rPr lang="en-US" sz="1200" b="1" dirty="0">
                <a:solidFill>
                  <a:srgbClr val="8A7A6D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&gt;  Desktop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766560" y="1645920"/>
            <a:ext cx="4876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What flows from it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766560" y="2103120"/>
            <a:ext cx="4876495" cy="1170432"/>
          </a:xfrm>
          <a:prstGeom prst="roundRect">
            <a:avLst>
              <a:gd name="adj" fmla="val 125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986016" y="2322576"/>
            <a:ext cx="512064" cy="512064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6" name="Image 1" descr="/home/rayhanyovi/Documents/Projects/storybook/deck/icons/bookRead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9153" y="2455713"/>
            <a:ext cx="245791" cy="24579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644384" y="2286000"/>
            <a:ext cx="3779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2–3 col grid + two-page spread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7059168" y="2761488"/>
            <a:ext cx="43278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reader uses real tablet real-estate; spreads feel like a physical book.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766560" y="3401568"/>
            <a:ext cx="4876495" cy="1170432"/>
          </a:xfrm>
          <a:prstGeom prst="roundRect">
            <a:avLst>
              <a:gd name="adj" fmla="val 125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986016" y="3621024"/>
            <a:ext cx="512064" cy="512064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21" name="Image 2" descr="/home/rayhanyovi/Documents/Projects/storybook/deck/icons/han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153" y="3754161"/>
            <a:ext cx="245791" cy="24579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644384" y="3584448"/>
            <a:ext cx="3779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64–72px tap targets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7059168" y="4059936"/>
            <a:ext cx="43278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Oversized targets suit small fingers on a large, two-handed screen.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4700016"/>
            <a:ext cx="4876495" cy="1170432"/>
          </a:xfrm>
          <a:prstGeom prst="roundRect">
            <a:avLst>
              <a:gd name="adj" fmla="val 125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986016" y="4919472"/>
            <a:ext cx="512064" cy="512064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26" name="Image 3" descr="/home/rayhanyovi/Documents/Projects/storybook/deck/icons/feather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153" y="5052609"/>
            <a:ext cx="245791" cy="245791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644384" y="4882896"/>
            <a:ext cx="3779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Layouts tuned for landscape &amp; portrait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7059168" y="5358384"/>
            <a:ext cx="43278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Designed for a held tablet first, then gracefully narrowed to phones.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Overview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PERSONAS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Three people, one account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90874" cy="3200400"/>
          </a:xfrm>
          <a:prstGeom prst="roundRect">
            <a:avLst>
              <a:gd name="adj" fmla="val 457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65960"/>
            <a:ext cx="768096" cy="768096"/>
          </a:xfrm>
          <a:prstGeom prst="ellipse">
            <a:avLst/>
          </a:prstGeom>
          <a:solidFill>
            <a:srgbClr val="FFE3D7"/>
          </a:solidFill>
          <a:ln/>
        </p:spPr>
      </p:sp>
      <p:pic>
        <p:nvPicPr>
          <p:cNvPr id="7" name="Image 0" descr="/home/rayhanyovi/Documents/Projects/storybook/deck/assets/av_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694944" cy="6949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19072" y="2002536"/>
            <a:ext cx="21192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FF7B54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PARENT · THE BUYER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719072" y="2258568"/>
            <a:ext cx="21192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Dina, 34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2916936"/>
            <a:ext cx="2869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Mom of a 4-year-old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59536" y="3282696"/>
            <a:ext cx="286908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Safe, age-appropriate stories. Control spending. Trust her kid can't rack up charges.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59536" y="4288536"/>
            <a:ext cx="2869082" cy="384048"/>
          </a:xfrm>
          <a:prstGeom prst="roundRect">
            <a:avLst>
              <a:gd name="adj" fmla="val 50000"/>
            </a:avLst>
          </a:prstGeom>
          <a:solidFill>
            <a:srgbClr val="FFE3D7"/>
          </a:solidFill>
          <a:ln/>
        </p:spPr>
      </p:sp>
      <p:sp>
        <p:nvSpPr>
          <p:cNvPr id="13" name="Text 10"/>
          <p:cNvSpPr/>
          <p:nvPr/>
        </p:nvSpPr>
        <p:spPr>
          <a:xfrm>
            <a:off x="859536" y="4288536"/>
            <a:ext cx="286908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Holds the wallet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50410" y="1691640"/>
            <a:ext cx="3490874" cy="3200400"/>
          </a:xfrm>
          <a:prstGeom prst="roundRect">
            <a:avLst>
              <a:gd name="adj" fmla="val 457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24730" y="1965960"/>
            <a:ext cx="768096" cy="768096"/>
          </a:xfrm>
          <a:prstGeom prst="ellipse">
            <a:avLst/>
          </a:prstGeom>
          <a:solidFill>
            <a:srgbClr val="D9F3EF"/>
          </a:solidFill>
          <a:ln/>
        </p:spPr>
      </p:sp>
      <p:pic>
        <p:nvPicPr>
          <p:cNvPr id="16" name="Image 1" descr="/home/rayhanyovi/Documents/Projects/storybook/deck/assets/av_k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002536"/>
            <a:ext cx="694944" cy="6949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520842" y="2002536"/>
            <a:ext cx="21192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2EC4B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CHILD · THE READER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520842" y="2258568"/>
            <a:ext cx="21192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Adit, 4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661306" y="2916936"/>
            <a:ext cx="2869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Loves pictures &amp; tapping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661306" y="3282696"/>
            <a:ext cx="286908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Colorful pictures, move through a story, feel rewarded — all without help.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4661306" y="4288536"/>
            <a:ext cx="2869082" cy="384048"/>
          </a:xfrm>
          <a:prstGeom prst="roundRect">
            <a:avLst>
              <a:gd name="adj" fmla="val 50000"/>
            </a:avLst>
          </a:prstGeom>
          <a:solidFill>
            <a:srgbClr val="D9F3EF"/>
          </a:solidFill>
          <a:ln/>
        </p:spPr>
      </p:sp>
      <p:sp>
        <p:nvSpPr>
          <p:cNvPr id="22" name="Text 18"/>
          <p:cNvSpPr/>
          <p:nvPr/>
        </p:nvSpPr>
        <p:spPr>
          <a:xfrm>
            <a:off x="4661306" y="4288536"/>
            <a:ext cx="286908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engagement engine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8152181" y="1691640"/>
            <a:ext cx="3490874" cy="3200400"/>
          </a:xfrm>
          <a:prstGeom prst="roundRect">
            <a:avLst>
              <a:gd name="adj" fmla="val 457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426501" y="1965960"/>
            <a:ext cx="768096" cy="768096"/>
          </a:xfrm>
          <a:prstGeom prst="ellipse">
            <a:avLst/>
          </a:prstGeom>
          <a:solidFill>
            <a:srgbClr val="ECE6FE"/>
          </a:solidFill>
          <a:ln/>
        </p:spPr>
      </p:sp>
      <p:pic>
        <p:nvPicPr>
          <p:cNvPr id="25" name="Image 2" descr="/home/rayhanyovi/Documents/Projects/storybook/deck/assets/av_adm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077" y="2002536"/>
            <a:ext cx="694944" cy="69494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322613" y="2002536"/>
            <a:ext cx="21192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A78B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ADMIN · THE OPERATOR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9322613" y="2258568"/>
            <a:ext cx="21192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Catalog manager</a:t>
            </a:r>
            <a:endParaRPr lang="en-US" sz="1700" dirty="0"/>
          </a:p>
        </p:txBody>
      </p:sp>
      <p:sp>
        <p:nvSpPr>
          <p:cNvPr id="28" name="Text 23"/>
          <p:cNvSpPr/>
          <p:nvPr/>
        </p:nvSpPr>
        <p:spPr>
          <a:xfrm>
            <a:off x="8463077" y="2916936"/>
            <a:ext cx="2869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Internal content team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8463077" y="3282696"/>
            <a:ext cx="286908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Add books, keep metadata correct, control availability: draft, published, archived.</a:t>
            </a:r>
            <a:endParaRPr lang="en-US" sz="1250" dirty="0"/>
          </a:p>
        </p:txBody>
      </p:sp>
      <p:sp>
        <p:nvSpPr>
          <p:cNvPr id="30" name="Shape 25"/>
          <p:cNvSpPr/>
          <p:nvPr/>
        </p:nvSpPr>
        <p:spPr>
          <a:xfrm>
            <a:off x="8463077" y="4288536"/>
            <a:ext cx="2869082" cy="384048"/>
          </a:xfrm>
          <a:prstGeom prst="roundRect">
            <a:avLst>
              <a:gd name="adj" fmla="val 50000"/>
            </a:avLst>
          </a:prstGeom>
          <a:solidFill>
            <a:srgbClr val="ECE6FE"/>
          </a:solidFill>
          <a:ln/>
        </p:spPr>
      </p:sp>
      <p:sp>
        <p:nvSpPr>
          <p:cNvPr id="31" name="Text 26"/>
          <p:cNvSpPr/>
          <p:nvPr/>
        </p:nvSpPr>
        <p:spPr>
          <a:xfrm>
            <a:off x="8463077" y="4288536"/>
            <a:ext cx="286908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Owns catalog quality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548640" y="5184648"/>
            <a:ext cx="11094415" cy="841248"/>
          </a:xfrm>
          <a:prstGeom prst="roundRect">
            <a:avLst>
              <a:gd name="adj" fmla="val 17391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4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859536" y="5376672"/>
            <a:ext cx="457200" cy="457200"/>
          </a:xfrm>
          <a:prstGeom prst="ellipse">
            <a:avLst/>
          </a:prstGeom>
          <a:solidFill>
            <a:srgbClr val="FFC93C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34" name="Image 3" descr="/home/rayhanyovi/Documents/Projects/storybook/deck/icons/exchange_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5495544"/>
            <a:ext cx="219456" cy="219456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1463040" y="5184648"/>
            <a:ext cx="990569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Buyer ≠ reader.  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account belongs to the parent; the child is a constrained view of it — and CRUD lives in a separate admin role.</a:t>
            </a:r>
            <a:endParaRPr lang="en-US" sz="1500" dirty="0"/>
          </a:p>
        </p:txBody>
      </p:sp>
      <p:sp>
        <p:nvSpPr>
          <p:cNvPr id="36" name="Text 3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Personas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PERSONAS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Kid Mode — no prices, no buy, by design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4297680"/>
          </a:xfrm>
          <a:prstGeom prst="roundRect">
            <a:avLst>
              <a:gd name="adj" fmla="val 4000"/>
            </a:avLst>
          </a:prstGeom>
          <a:solidFill>
            <a:srgbClr val="D9F3EF"/>
          </a:solidFill>
          <a:ln/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65960"/>
            <a:ext cx="1901495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19014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DEFAULT SURFACE</a:t>
            </a:r>
            <a:endParaRPr lang="en-US" sz="1100" dirty="0"/>
          </a:p>
        </p:txBody>
      </p:sp>
      <p:pic>
        <p:nvPicPr>
          <p:cNvPr id="8" name="Image 0" descr="/home/rayhanyovi/Documents/Projects/storybook/deck/assets/n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2106695" cy="2468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51206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"Ready to read, Adit? 🐱"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5532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Big, bright, wordless. Built for a child who can't read fluently yet.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0" y="1691640"/>
            <a:ext cx="7071055" cy="749808"/>
          </a:xfrm>
          <a:prstGeom prst="roundRect">
            <a:avLst>
              <a:gd name="adj" fmla="val 195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837944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3" name="Image 1" descr="/home/rayhanyovi/Documents/Projects/storybook/deck/icons/bookRead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195681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0096" y="1746504"/>
            <a:ext cx="6110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Big covers, 2–3 col grid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Large icon bottom-nav, minimal words — discovery without reading.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0" y="2551176"/>
            <a:ext cx="7071055" cy="749808"/>
          </a:xfrm>
          <a:prstGeom prst="roundRect">
            <a:avLst>
              <a:gd name="adj" fmla="val 195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54880" y="2697480"/>
            <a:ext cx="457200" cy="457200"/>
          </a:xfrm>
          <a:prstGeom prst="ellipse">
            <a:avLst/>
          </a:prstGeom>
          <a:solidFill>
            <a:srgbClr val="FF4B4B"/>
          </a:solidFill>
          <a:ln/>
        </p:spPr>
      </p:sp>
      <p:pic>
        <p:nvPicPr>
          <p:cNvPr id="17" name="Image 2" descr="/home/rayhanyovi/Documents/Projects/storybook/deck/icons/ba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752" y="2816352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340096" y="2606040"/>
            <a:ext cx="6110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No prices, no buy buttons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Purchase UI is structurally absent — not hidden, just not rendered.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0" y="3410712"/>
            <a:ext cx="7071055" cy="749808"/>
          </a:xfrm>
          <a:prstGeom prst="roundRect">
            <a:avLst>
              <a:gd name="adj" fmla="val 195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3557016"/>
            <a:ext cx="457200" cy="457200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21" name="Image 3" descr="/home/rayhanyovi/Documents/Projects/storybook/deck/icons/loc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3675888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40096" y="3465576"/>
            <a:ext cx="6110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Locked books stay gentle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lock + “Ask a grown-up” that softly triggers the PIN gate — never a scary block.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572000" y="4270248"/>
            <a:ext cx="7071055" cy="749808"/>
          </a:xfrm>
          <a:prstGeom prst="roundRect">
            <a:avLst>
              <a:gd name="adj" fmla="val 195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754880" y="4416552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25" name="Image 4" descr="/home/rayhanyovi/Documents/Projects/storybook/deck/icons/hand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4535424"/>
            <a:ext cx="219456" cy="21945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340096" y="4325112"/>
            <a:ext cx="6110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Oversized tap targets (≥64px)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Tuned to toddler motor precision; failed taps cause frustration.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572000" y="5129784"/>
            <a:ext cx="7071055" cy="749808"/>
          </a:xfrm>
          <a:prstGeom prst="roundRect">
            <a:avLst>
              <a:gd name="adj" fmla="val 195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754880" y="5276088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29" name="Image 5" descr="/home/rayhanyovi/Documents/Projects/storybook/deck/icons/feather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5394960"/>
            <a:ext cx="219456" cy="21945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340096" y="5184648"/>
            <a:ext cx="6110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Restrained, finite motion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Reading view is a motion-free zone; rewards play once, then stop.</a:t>
            </a:r>
            <a:endParaRPr lang="en-US" sz="1300" dirty="0"/>
          </a:p>
        </p:txBody>
      </p:sp>
      <p:sp>
        <p:nvSpPr>
          <p:cNvPr id="31" name="Text 2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Personas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PERSONAS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Parent Mode — controlled, behind a PIN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985455" y="1691640"/>
            <a:ext cx="3657600" cy="4297680"/>
          </a:xfrm>
          <a:prstGeom prst="roundRect">
            <a:avLst>
              <a:gd name="adj" fmla="val 4000"/>
            </a:avLst>
          </a:prstGeom>
          <a:solidFill>
            <a:srgbClr val="FFE3D7"/>
          </a:solidFill>
          <a:ln/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59775" y="1965960"/>
            <a:ext cx="1590690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965960"/>
            <a:ext cx="159069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BEHIND A PIN</a:t>
            </a:r>
            <a:endParaRPr lang="en-US" sz="1100" dirty="0"/>
          </a:p>
        </p:txBody>
      </p:sp>
      <p:pic>
        <p:nvPicPr>
          <p:cNvPr id="8" name="Image 0" descr="/home/rayhanyovi/Documents/Projects/storybook/deck/assets/n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9855" y="2651760"/>
            <a:ext cx="1835256" cy="2011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899855" y="4892040"/>
            <a:ext cx="384048" cy="457200"/>
          </a:xfrm>
          <a:prstGeom prst="roundRect">
            <a:avLst>
              <a:gd name="adj" fmla="val 23810"/>
            </a:avLst>
          </a:prstGeom>
          <a:solidFill>
            <a:srgbClr val="FFFDF9"/>
          </a:solidFill>
          <a:ln w="19050">
            <a:solidFill>
              <a:srgbClr val="FF7B5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99855" y="489204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603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•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9375343" y="4892040"/>
            <a:ext cx="384048" cy="457200"/>
          </a:xfrm>
          <a:prstGeom prst="roundRect">
            <a:avLst>
              <a:gd name="adj" fmla="val 23810"/>
            </a:avLst>
          </a:prstGeom>
          <a:solidFill>
            <a:srgbClr val="FFFDF9"/>
          </a:solidFill>
          <a:ln w="19050">
            <a:solidFill>
              <a:srgbClr val="FF7B5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75343" y="489204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603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•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850831" y="4892040"/>
            <a:ext cx="384048" cy="457200"/>
          </a:xfrm>
          <a:prstGeom prst="roundRect">
            <a:avLst>
              <a:gd name="adj" fmla="val 23810"/>
            </a:avLst>
          </a:prstGeom>
          <a:solidFill>
            <a:srgbClr val="FFFDF9"/>
          </a:solidFill>
          <a:ln w="19050">
            <a:solidFill>
              <a:srgbClr val="FF7B5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850831" y="489204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603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•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0326319" y="4892040"/>
            <a:ext cx="384048" cy="457200"/>
          </a:xfrm>
          <a:prstGeom prst="roundRect">
            <a:avLst>
              <a:gd name="adj" fmla="val 23810"/>
            </a:avLst>
          </a:prstGeom>
          <a:solidFill>
            <a:srgbClr val="FFFDF9"/>
          </a:solidFill>
          <a:ln w="19050">
            <a:solidFill>
              <a:srgbClr val="FF7B5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326319" y="489204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603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•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59775" y="54589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Entering parent mode AND every checkout require the PIN.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1691640"/>
            <a:ext cx="7071055" cy="749808"/>
          </a:xfrm>
          <a:prstGeom prst="roundRect">
            <a:avLst>
              <a:gd name="adj" fmla="val 195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1837944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20" name="Image 1" descr="/home/rayhanyovi/Documents/Projects/storybook/deck/icons/sync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1956816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316736" y="1746504"/>
            <a:ext cx="6110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Subscribe, renew, manage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Subscription status &amp; expiry; renew adds +30 days with no error.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2551176"/>
            <a:ext cx="7071055" cy="749808"/>
          </a:xfrm>
          <a:prstGeom prst="roundRect">
            <a:avLst>
              <a:gd name="adj" fmla="val 195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24" name="Image 2" descr="/home/rayhanyovi/Documents/Projects/storybook/deck/icons/crow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81635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316736" y="2606040"/>
            <a:ext cx="6110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Buy-to-keep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 a book forever — it survives subscription churn.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3410712"/>
            <a:ext cx="7071055" cy="749808"/>
          </a:xfrm>
          <a:prstGeom prst="roundRect">
            <a:avLst>
              <a:gd name="adj" fmla="val 195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31520" y="3557016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28" name="Image 3" descr="/home/rayhanyovi/Documents/Projects/storybook/deck/icons/bookReader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675888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316736" y="3465576"/>
            <a:ext cx="6110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Library &amp; account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Owned books, included-in-subscription books, purchase history.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48640" y="4270248"/>
            <a:ext cx="7071055" cy="749808"/>
          </a:xfrm>
          <a:prstGeom prst="roundRect">
            <a:avLst>
              <a:gd name="adj" fmla="val 195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31520" y="4416552"/>
            <a:ext cx="457200" cy="457200"/>
          </a:xfrm>
          <a:prstGeom prst="ellipse">
            <a:avLst/>
          </a:prstGeom>
          <a:solidFill>
            <a:srgbClr val="4CB9E7"/>
          </a:solidFill>
          <a:ln/>
        </p:spPr>
      </p:sp>
      <p:pic>
        <p:nvPicPr>
          <p:cNvPr id="32" name="Image 4" descr="/home/rayhanyovi/Documents/Projects/storybook/deck/icons/chartLin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35424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316736" y="4325112"/>
            <a:ext cx="6110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Child progress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See which books their child loves and returns to most.</a:t>
            </a:r>
            <a:endParaRPr lang="en-US" sz="1300" dirty="0"/>
          </a:p>
        </p:txBody>
      </p:sp>
      <p:sp>
        <p:nvSpPr>
          <p:cNvPr id="34" name="Shape 27"/>
          <p:cNvSpPr/>
          <p:nvPr/>
        </p:nvSpPr>
        <p:spPr>
          <a:xfrm>
            <a:off x="548640" y="5129784"/>
            <a:ext cx="7071055" cy="749808"/>
          </a:xfrm>
          <a:prstGeom prst="roundRect">
            <a:avLst>
              <a:gd name="adj" fmla="val 195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731520" y="5276088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6" name="Image 5" descr="/home/rayhanyovi/Documents/Projects/storybook/deck/icons/clock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94960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316736" y="5184648"/>
            <a:ext cx="6110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Screen-time limit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Set a session cap before handing over the tablet — PIN-protected.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Personas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279886" cy="310896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2798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MEET OYEN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Meet Oyen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840480" cy="3840480"/>
          </a:xfrm>
          <a:prstGeom prst="ellipse">
            <a:avLst/>
          </a:prstGeom>
          <a:solidFill>
            <a:srgbClr val="FFEFC4"/>
          </a:solidFill>
          <a:ln/>
        </p:spPr>
      </p:sp>
      <p:sp>
        <p:nvSpPr>
          <p:cNvPr id="6" name="Shape 4"/>
          <p:cNvSpPr/>
          <p:nvPr/>
        </p:nvSpPr>
        <p:spPr>
          <a:xfrm>
            <a:off x="7726680" y="4572000"/>
            <a:ext cx="777240" cy="777240"/>
          </a:xfrm>
          <a:prstGeom prst="ellipse">
            <a:avLst/>
          </a:prstGeom>
          <a:solidFill>
            <a:srgbClr val="D9F3EF"/>
          </a:solidFill>
          <a:ln/>
        </p:spPr>
      </p:sp>
      <p:sp>
        <p:nvSpPr>
          <p:cNvPr id="7" name="Shape 5"/>
          <p:cNvSpPr/>
          <p:nvPr/>
        </p:nvSpPr>
        <p:spPr>
          <a:xfrm>
            <a:off x="11292840" y="2103120"/>
            <a:ext cx="457200" cy="457200"/>
          </a:xfrm>
          <a:prstGeom prst="ellipse">
            <a:avLst/>
          </a:prstGeom>
          <a:solidFill>
            <a:srgbClr val="FFE3D7"/>
          </a:solidFill>
          <a:ln/>
        </p:spPr>
      </p:sp>
      <p:pic>
        <p:nvPicPr>
          <p:cNvPr id="8" name="Image 0" descr="/home/rayhanyovi/Documents/Projects/storybook/deck/assets/n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920240"/>
            <a:ext cx="3725266" cy="3840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737360"/>
            <a:ext cx="6766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2603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Oyen</a:t>
            </a:r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  is the brand's friendly reading companion — an orange-cream tabby cat.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3063240"/>
            <a:ext cx="6766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name “Oyen” is the Indonesian term of endearment for an orange tabby — warm, memorable, and instantly on-brand. </a:t>
            </a:r>
            <a:pPr indent="0" marL="0">
              <a:lnSpc>
                <a:spcPct val="124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Oyen is a presence, not the navigation</a:t>
            </a:r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: warm, curious, gentle, and encouraging.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343400"/>
            <a:ext cx="2223821" cy="566928"/>
          </a:xfrm>
          <a:prstGeom prst="roundRect">
            <a:avLst>
              <a:gd name="adj" fmla="val 500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" y="4434840"/>
            <a:ext cx="384048" cy="384048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13" name="Image 1" descr="/home/rayhanyovi/Documents/Projects/storybook/deck/icons/hear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4534692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97280" y="4343400"/>
            <a:ext cx="162031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Emotional thread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955341" y="4343400"/>
            <a:ext cx="2523744" cy="566928"/>
          </a:xfrm>
          <a:prstGeom prst="roundRect">
            <a:avLst>
              <a:gd name="adj" fmla="val 500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046781" y="443484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7" name="Image 2" descr="/home/rayhanyovi/Documents/Projects/storybook/deck/icons/feathe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6633" y="4534692"/>
            <a:ext cx="184343" cy="18434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503981" y="434340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Flat vector, rounded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661965" y="4343400"/>
            <a:ext cx="2523744" cy="566928"/>
          </a:xfrm>
          <a:prstGeom prst="roundRect">
            <a:avLst>
              <a:gd name="adj" fmla="val 500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753405" y="4434840"/>
            <a:ext cx="384048" cy="384048"/>
          </a:xfrm>
          <a:prstGeom prst="ellipse">
            <a:avLst/>
          </a:prstGeom>
          <a:solidFill>
            <a:srgbClr val="7BC950"/>
          </a:solidFill>
          <a:ln/>
        </p:spPr>
      </p:sp>
      <p:pic>
        <p:nvPicPr>
          <p:cNvPr id="21" name="Image 3" descr="/home/rayhanyovi/Documents/Projects/storybook/deck/icons/seedling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257" y="4534692"/>
            <a:ext cx="184343" cy="18434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210605" y="434340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Signature teal scarf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5166360"/>
            <a:ext cx="6766560" cy="777240"/>
          </a:xfrm>
          <a:prstGeom prst="roundRect">
            <a:avLst>
              <a:gd name="adj" fmla="val 18824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859536" y="5166360"/>
            <a:ext cx="6144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"One friendly guide — it greets, celebrates, and softens every locked, empty, and error moment."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Meet Oyen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279886" cy="310896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2798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MEET OYEN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One guide for every emotional moment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51525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847088"/>
            <a:ext cx="1554480" cy="1719072"/>
          </a:xfrm>
          <a:prstGeom prst="roundRect">
            <a:avLst>
              <a:gd name="adj" fmla="val 8235"/>
            </a:avLst>
          </a:prstGeom>
          <a:solidFill>
            <a:srgbClr val="FFEFC4"/>
          </a:solidFill>
          <a:ln/>
        </p:spPr>
      </p:sp>
      <p:pic>
        <p:nvPicPr>
          <p:cNvPr id="7" name="Image 0" descr="/home/rayhanyovi/Documents/Projects/storybook/deck/assets/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891" y="1984248"/>
            <a:ext cx="1277739" cy="1444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23160" y="2029968"/>
            <a:ext cx="14578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Waving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2423160" y="2487168"/>
            <a:ext cx="145785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Login welcome &amp; onboarding — the first impression.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38218" y="1664208"/>
            <a:ext cx="351525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1098" y="1847088"/>
            <a:ext cx="1554480" cy="1719072"/>
          </a:xfrm>
          <a:prstGeom prst="roundRect">
            <a:avLst>
              <a:gd name="adj" fmla="val 8235"/>
            </a:avLst>
          </a:prstGeom>
          <a:solidFill>
            <a:srgbClr val="E6F4D8"/>
          </a:solidFill>
          <a:ln/>
        </p:spPr>
      </p:sp>
      <p:pic>
        <p:nvPicPr>
          <p:cNvPr id="12" name="Image 1" descr="/home/rayhanyovi/Documents/Projects/storybook/deck/assets/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826" y="1984248"/>
            <a:ext cx="1265025" cy="1444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212738" y="2029968"/>
            <a:ext cx="14578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Celebrating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212738" y="2487168"/>
            <a:ext cx="145785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Finishing a book or unlocking — confetti, plays once.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127797" y="1664208"/>
            <a:ext cx="351525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10677" y="1847088"/>
            <a:ext cx="1554480" cy="1719072"/>
          </a:xfrm>
          <a:prstGeom prst="roundRect">
            <a:avLst>
              <a:gd name="adj" fmla="val 8235"/>
            </a:avLst>
          </a:prstGeom>
          <a:solidFill>
            <a:srgbClr val="FFE3D7"/>
          </a:solidFill>
          <a:ln/>
        </p:spPr>
      </p:sp>
      <p:pic>
        <p:nvPicPr>
          <p:cNvPr id="17" name="Image 2" descr="/home/rayhanyovi/Documents/Projects/storybook/deck/assets/n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7837" y="2005013"/>
            <a:ext cx="1280160" cy="140322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002317" y="2029968"/>
            <a:ext cx="14578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Holding a lock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0002317" y="2487168"/>
            <a:ext cx="145785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Locked content — “Ask a grown-up,” never a hard block.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48640" y="3986784"/>
            <a:ext cx="351525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31520" y="4169664"/>
            <a:ext cx="1554480" cy="1719072"/>
          </a:xfrm>
          <a:prstGeom prst="roundRect">
            <a:avLst>
              <a:gd name="adj" fmla="val 8235"/>
            </a:avLst>
          </a:prstGeom>
          <a:solidFill>
            <a:srgbClr val="DDF0FB"/>
          </a:solidFill>
          <a:ln/>
        </p:spPr>
      </p:sp>
      <p:pic>
        <p:nvPicPr>
          <p:cNvPr id="22" name="Image 3" descr="/home/rayhanyovi/Documents/Projects/storybook/deck/assets/n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75210"/>
            <a:ext cx="1280160" cy="11079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423160" y="4352544"/>
            <a:ext cx="14578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Puzzled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2423160" y="4809744"/>
            <a:ext cx="145785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404 &amp; not-found — lost, but still cute.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38218" y="3986784"/>
            <a:ext cx="351525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1098" y="4169664"/>
            <a:ext cx="1554480" cy="1719072"/>
          </a:xfrm>
          <a:prstGeom prst="roundRect">
            <a:avLst>
              <a:gd name="adj" fmla="val 8235"/>
            </a:avLst>
          </a:prstGeom>
          <a:solidFill>
            <a:srgbClr val="ECE6FE"/>
          </a:solidFill>
          <a:ln/>
        </p:spPr>
      </p:sp>
      <p:pic>
        <p:nvPicPr>
          <p:cNvPr id="27" name="Image 4" descr="/home/rayhanyovi/Documents/Projects/storybook/deck/assets/n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8258" y="4521965"/>
            <a:ext cx="1280160" cy="101447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212738" y="4352544"/>
            <a:ext cx="14578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Oops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6212738" y="4809744"/>
            <a:ext cx="145785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Generic error — a tangled ball of yarn.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127797" y="3986784"/>
            <a:ext cx="351525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10677" y="4169664"/>
            <a:ext cx="1554480" cy="1719072"/>
          </a:xfrm>
          <a:prstGeom prst="roundRect">
            <a:avLst>
              <a:gd name="adj" fmla="val 8235"/>
            </a:avLst>
          </a:prstGeom>
          <a:solidFill>
            <a:srgbClr val="D9F3EF"/>
          </a:solidFill>
          <a:ln/>
        </p:spPr>
      </p:sp>
      <p:pic>
        <p:nvPicPr>
          <p:cNvPr id="32" name="Image 5" descr="/home/rayhanyovi/Documents/Projects/storybook/deck/assets/n1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7837" y="4532475"/>
            <a:ext cx="1280160" cy="99345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0002317" y="4352544"/>
            <a:ext cx="14578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Sleepy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10002317" y="4809744"/>
            <a:ext cx="145785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Bedtime stories &amp; screen-time's up — “time for a nap.”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Meet Oyen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694292" cy="310896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6942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Design DNA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principles every screen answers to — and why each one is a child-development decision, not a style preference.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410048" cy="1243584"/>
          </a:xfrm>
          <a:prstGeom prst="roundRect">
            <a:avLst>
              <a:gd name="adj" fmla="val 1176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084832"/>
            <a:ext cx="566928" cy="566928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8" name="Image 0" descr="/home/rayhanyovi/Documents/Projects/storybook/deck/icons/hear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073" y="2232233"/>
            <a:ext cx="272125" cy="27212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17904" y="2011680"/>
            <a:ext cx="4221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Warm, not clinical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517904" y="2414016"/>
            <a:ext cx="42213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Cream over white, espresso over black, rounded over sharp. Even the admin panel stays friendly.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33008" y="1828800"/>
            <a:ext cx="5410048" cy="1243584"/>
          </a:xfrm>
          <a:prstGeom prst="roundRect">
            <a:avLst>
              <a:gd name="adj" fmla="val 1176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89040" y="2084832"/>
            <a:ext cx="566928" cy="566928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3" name="Image 1" descr="/home/rayhanyovi/Documents/Projects/storybook/deck/icons/bookOpe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6441" y="2232233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2272" y="2011680"/>
            <a:ext cx="4221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Illustration-led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7202272" y="2414016"/>
            <a:ext cx="42213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Screens lean on imagery, not text walls. Every empty state and milestone has art.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273552"/>
            <a:ext cx="5410048" cy="1243584"/>
          </a:xfrm>
          <a:prstGeom prst="roundRect">
            <a:avLst>
              <a:gd name="adj" fmla="val 1176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3529584"/>
            <a:ext cx="566928" cy="566928"/>
          </a:xfrm>
          <a:prstGeom prst="ellipse">
            <a:avLst/>
          </a:prstGeom>
          <a:solidFill>
            <a:srgbClr val="FFC93C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8" name="Image 2" descr="/home/rayhanyovi/Documents/Projects/storybook/deck/icons/han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073" y="3676985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17904" y="3456432"/>
            <a:ext cx="4221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Chunky &amp; tactile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1517904" y="3858768"/>
            <a:ext cx="42213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Big rounded shapes and thick 3D buttons that physically press — made for small fingers.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233008" y="3273552"/>
            <a:ext cx="5410048" cy="1243584"/>
          </a:xfrm>
          <a:prstGeom prst="roundRect">
            <a:avLst>
              <a:gd name="adj" fmla="val 1176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89040" y="3529584"/>
            <a:ext cx="566928" cy="566928"/>
          </a:xfrm>
          <a:prstGeom prst="ellipse">
            <a:avLst/>
          </a:prstGeom>
          <a:solidFill>
            <a:srgbClr val="4CB9E7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3" name="Image 3" descr="/home/rayhanyovi/Documents/Projects/storybook/deck/icons/bulb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6441" y="3676985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02272" y="3456432"/>
            <a:ext cx="4221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Playful but legible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7202272" y="3858768"/>
            <a:ext cx="42213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Bright multicolor accents over a calm cream base; color is fun, never fights readability.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4718304"/>
            <a:ext cx="5410048" cy="1243584"/>
          </a:xfrm>
          <a:prstGeom prst="roundRect">
            <a:avLst>
              <a:gd name="adj" fmla="val 1176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04672" y="4974336"/>
            <a:ext cx="566928" cy="566928"/>
          </a:xfrm>
          <a:prstGeom prst="ellipse">
            <a:avLst/>
          </a:prstGeom>
          <a:solidFill>
            <a:srgbClr val="7BC950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8" name="Image 4" descr="/home/rayhanyovi/Documents/Projects/storybook/deck/icons/seedling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073" y="5121737"/>
            <a:ext cx="272125" cy="27212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517904" y="4901184"/>
            <a:ext cx="4221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One friendly guide</a:t>
            </a:r>
            <a:endParaRPr lang="en-US" sz="1550" dirty="0"/>
          </a:p>
        </p:txBody>
      </p:sp>
      <p:sp>
        <p:nvSpPr>
          <p:cNvPr id="30" name="Text 23"/>
          <p:cNvSpPr/>
          <p:nvPr/>
        </p:nvSpPr>
        <p:spPr>
          <a:xfrm>
            <a:off x="1517904" y="5303520"/>
            <a:ext cx="42213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Oyen is the emotional thread — a presence that softens hard moments, not the navigation.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6233008" y="4718304"/>
            <a:ext cx="5410048" cy="1243584"/>
          </a:xfrm>
          <a:prstGeom prst="roundRect">
            <a:avLst>
              <a:gd name="adj" fmla="val 1176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489040" y="4974336"/>
            <a:ext cx="566928" cy="566928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33" name="Image 5" descr="/home/rayhanyovi/Documents/Projects/storybook/deck/icons/feather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6441" y="5121737"/>
            <a:ext cx="272125" cy="27212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202272" y="4901184"/>
            <a:ext cx="4221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Motion restraint = safety</a:t>
            </a:r>
            <a:endParaRPr lang="en-US" sz="1550" dirty="0"/>
          </a:p>
        </p:txBody>
      </p:sp>
      <p:sp>
        <p:nvSpPr>
          <p:cNvPr id="35" name="Text 27"/>
          <p:cNvSpPr/>
          <p:nvPr/>
        </p:nvSpPr>
        <p:spPr>
          <a:xfrm>
            <a:off x="7202272" y="5303520"/>
            <a:ext cx="42213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Toddlers overstimulate easily. Animation is purposeful, user-initiated, and never looping.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Design System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694292" cy="310896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6942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Color &amp; type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NEUTRALS — THE CALM BASE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1463040" cy="1005840"/>
          </a:xfrm>
          <a:prstGeom prst="roundRect">
            <a:avLst>
              <a:gd name="adj" fmla="val 10909"/>
            </a:avLst>
          </a:prstGeom>
          <a:solidFill>
            <a:srgbClr val="FBF3E7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23774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Cream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#FBF3E7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76272" y="1938528"/>
            <a:ext cx="1463040" cy="1005840"/>
          </a:xfrm>
          <a:prstGeom prst="roundRect">
            <a:avLst>
              <a:gd name="adj" fmla="val 10909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0" y="23774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Card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#FFFDF9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803904" y="1938528"/>
            <a:ext cx="1463040" cy="1005840"/>
          </a:xfrm>
          <a:prstGeom prst="roundRect">
            <a:avLst>
              <a:gd name="adj" fmla="val 10909"/>
            </a:avLst>
          </a:prstGeom>
          <a:solidFill>
            <a:srgbClr val="F3E9D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13632" y="23774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Muted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#F3E9D8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31536" y="1938528"/>
            <a:ext cx="1463040" cy="1005840"/>
          </a:xfrm>
          <a:prstGeom prst="roundRect">
            <a:avLst>
              <a:gd name="adj" fmla="val 10909"/>
            </a:avLst>
          </a:prstGeom>
          <a:solidFill>
            <a:srgbClr val="3A2E28"/>
          </a:solidFill>
          <a:ln/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541264" y="23774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Ink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#3A2E28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059168" y="1938528"/>
            <a:ext cx="1463040" cy="1005840"/>
          </a:xfrm>
          <a:prstGeom prst="roundRect">
            <a:avLst>
              <a:gd name="adj" fmla="val 10909"/>
            </a:avLst>
          </a:prstGeom>
          <a:solidFill>
            <a:srgbClr val="8A7A6D"/>
          </a:solidFill>
          <a:ln/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168896" y="23774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Ink soft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#8A7A6D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BRAND + PLAYFUL POPS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493008"/>
            <a:ext cx="950976" cy="914400"/>
          </a:xfrm>
          <a:prstGeom prst="roundRect">
            <a:avLst>
              <a:gd name="adj" fmla="val 12000"/>
            </a:avLst>
          </a:prstGeom>
          <a:solidFill>
            <a:srgbClr val="FF7B54"/>
          </a:solidFill>
          <a:ln/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8368" y="3840480"/>
            <a:ext cx="768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Coral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#FF7B54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618488" y="3493008"/>
            <a:ext cx="950976" cy="914400"/>
          </a:xfrm>
          <a:prstGeom prst="roundRect">
            <a:avLst>
              <a:gd name="adj" fmla="val 12000"/>
            </a:avLst>
          </a:prstGeom>
          <a:solidFill>
            <a:srgbClr val="FFC93C"/>
          </a:solidFill>
          <a:ln/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728216" y="3840480"/>
            <a:ext cx="768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Sunny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#FFC93C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688336" y="3493008"/>
            <a:ext cx="950976" cy="914400"/>
          </a:xfrm>
          <a:prstGeom prst="roundRect">
            <a:avLst>
              <a:gd name="adj" fmla="val 12000"/>
            </a:avLst>
          </a:prstGeom>
          <a:solidFill>
            <a:srgbClr val="2EC4B6"/>
          </a:solidFill>
          <a:ln/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798064" y="3840480"/>
            <a:ext cx="768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Teal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#2EC4B6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758184" y="3493008"/>
            <a:ext cx="950976" cy="914400"/>
          </a:xfrm>
          <a:prstGeom prst="roundRect">
            <a:avLst>
              <a:gd name="adj" fmla="val 12000"/>
            </a:avLst>
          </a:prstGeom>
          <a:solidFill>
            <a:srgbClr val="4CB9E7"/>
          </a:solidFill>
          <a:ln/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867912" y="3840480"/>
            <a:ext cx="768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Blue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#4CB9E7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28032" y="3493008"/>
            <a:ext cx="950976" cy="914400"/>
          </a:xfrm>
          <a:prstGeom prst="roundRect">
            <a:avLst>
              <a:gd name="adj" fmla="val 12000"/>
            </a:avLst>
          </a:prstGeom>
          <a:solidFill>
            <a:srgbClr val="A78BFA"/>
          </a:solidFill>
          <a:ln/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937760" y="3840480"/>
            <a:ext cx="768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Purple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#A78BFA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897880" y="3493008"/>
            <a:ext cx="950976" cy="914400"/>
          </a:xfrm>
          <a:prstGeom prst="roundRect">
            <a:avLst>
              <a:gd name="adj" fmla="val 12000"/>
            </a:avLst>
          </a:prstGeom>
          <a:solidFill>
            <a:srgbClr val="7BC950"/>
          </a:solidFill>
          <a:ln/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07608" y="3840480"/>
            <a:ext cx="768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Green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#7BC950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967728" y="3493008"/>
            <a:ext cx="950976" cy="914400"/>
          </a:xfrm>
          <a:prstGeom prst="roundRect">
            <a:avLst>
              <a:gd name="adj" fmla="val 12000"/>
            </a:avLst>
          </a:prstGeom>
          <a:solidFill>
            <a:srgbClr val="FF8FB1"/>
          </a:solidFill>
          <a:ln/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77456" y="3840480"/>
            <a:ext cx="768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Pink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#FF8FB1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782312"/>
            <a:ext cx="11094415" cy="1783080"/>
          </a:xfrm>
          <a:prstGeom prst="roundRect">
            <a:avLst>
              <a:gd name="adj" fmla="val 820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4400" y="5038344"/>
            <a:ext cx="49985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Fredoka</a:t>
            </a:r>
            <a:endParaRPr lang="en-US" sz="3800" dirty="0"/>
          </a:p>
        </p:txBody>
      </p:sp>
      <p:sp>
        <p:nvSpPr>
          <p:cNvPr id="33" name="Text 31"/>
          <p:cNvSpPr/>
          <p:nvPr/>
        </p:nvSpPr>
        <p:spPr>
          <a:xfrm>
            <a:off x="932688" y="5696712"/>
            <a:ext cx="499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Display · headings · buttons · numbers · mascot speech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32688" y="6007608"/>
            <a:ext cx="4998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Rounded, geometric, playful. Kid mode bumps every size up one step.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5848" y="5056632"/>
            <a:ext cx="0" cy="1234440"/>
          </a:xfrm>
          <a:prstGeom prst="line">
            <a:avLst/>
          </a:prstGeom>
          <a:noFill/>
          <a:ln w="12700">
            <a:solidFill>
              <a:srgbClr val="ECE0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61608" y="5038344"/>
            <a:ext cx="49985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Nunito</a:t>
            </a:r>
            <a:endParaRPr lang="en-US" sz="3800" dirty="0"/>
          </a:p>
        </p:txBody>
      </p:sp>
      <p:sp>
        <p:nvSpPr>
          <p:cNvPr id="37" name="Text 35"/>
          <p:cNvSpPr/>
          <p:nvPr/>
        </p:nvSpPr>
        <p:spPr>
          <a:xfrm>
            <a:off x="6479896" y="5696712"/>
            <a:ext cx="499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Body · descriptions · labels · longer reading UI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79896" y="6007608"/>
            <a:ext cx="4998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Highly legible and friendly — carries the dense parent &amp; admin surfaces.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Design System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694292" cy="310896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6942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Chunky components, restrained motion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0" cy="429768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9536" y="1947672"/>
            <a:ext cx="449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Signature interactions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" y="2592324"/>
            <a:ext cx="1828800" cy="566928"/>
          </a:xfrm>
          <a:prstGeom prst="roundRect">
            <a:avLst>
              <a:gd name="adj" fmla="val 32000"/>
            </a:avLst>
          </a:prstGeom>
          <a:solidFill>
            <a:srgbClr val="F2603A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514600"/>
            <a:ext cx="1828800" cy="566928"/>
          </a:xfrm>
          <a:prstGeom prst="roundRect">
            <a:avLst>
              <a:gd name="adj" fmla="val 32000"/>
            </a:avLst>
          </a:prstGeom>
          <a:solidFill>
            <a:srgbClr val="FF7B54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514600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Read now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5840" y="317296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0" y="2569464"/>
            <a:ext cx="1828800" cy="548640"/>
          </a:xfrm>
          <a:prstGeom prst="roundRect">
            <a:avLst>
              <a:gd name="adj" fmla="val 32000"/>
            </a:avLst>
          </a:prstGeom>
          <a:solidFill>
            <a:srgbClr val="F26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0" y="2551176"/>
            <a:ext cx="1828800" cy="548640"/>
          </a:xfrm>
          <a:prstGeom prst="roundRect">
            <a:avLst>
              <a:gd name="adj" fmla="val 32000"/>
            </a:avLst>
          </a:prstGeom>
          <a:solidFill>
            <a:srgbClr val="FF7B54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2551176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Read now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00400" y="317296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pressed ↓2px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59536" y="3520440"/>
            <a:ext cx="449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ACCESS BADGES — never color alone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59536" y="3849624"/>
            <a:ext cx="1013155" cy="420624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pic>
        <p:nvPicPr>
          <p:cNvPr id="17" name="Image 0" descr="/home/rayhanyovi/Documents/Projects/storybook/deck/icons/gif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3950208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225296" y="3849624"/>
            <a:ext cx="61081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FREE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982419" y="3849624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7BC950"/>
          </a:solidFill>
          <a:ln/>
        </p:spPr>
      </p:sp>
      <p:pic>
        <p:nvPicPr>
          <p:cNvPr id="20" name="Image 1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147" y="3950208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348179" y="3849624"/>
            <a:ext cx="6949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OWNED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189427" y="3849624"/>
            <a:ext cx="929030" cy="420624"/>
          </a:xfrm>
          <a:prstGeom prst="roundRect">
            <a:avLst>
              <a:gd name="adj" fmla="val 50000"/>
            </a:avLst>
          </a:prstGeom>
          <a:solidFill>
            <a:srgbClr val="4CB9E7"/>
          </a:solidFill>
          <a:ln/>
        </p:spPr>
      </p:sp>
      <p:pic>
        <p:nvPicPr>
          <p:cNvPr id="23" name="Image 2" descr="/home/rayhanyovi/Documents/Projects/storybook/deck/icons/sync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9155" y="395020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3555187" y="3849624"/>
            <a:ext cx="52669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228186" y="3849624"/>
            <a:ext cx="1181405" cy="420624"/>
          </a:xfrm>
          <a:prstGeom prst="roundRect">
            <a:avLst>
              <a:gd name="adj" fmla="val 50000"/>
            </a:avLst>
          </a:prstGeom>
          <a:solidFill>
            <a:srgbClr val="8A7A6D"/>
          </a:solidFill>
          <a:ln/>
        </p:spPr>
      </p:sp>
      <p:pic>
        <p:nvPicPr>
          <p:cNvPr id="26" name="Image 3" descr="/home/rayhanyovi/Documents/Projects/storybook/deck/icons/loc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914" y="3950208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93946" y="3849624"/>
            <a:ext cx="77906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LOCKED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519318" y="3849624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pic>
        <p:nvPicPr>
          <p:cNvPr id="29" name="Image 4" descr="/home/rayhanyovi/Documents/Projects/storybook/deck/icons/userCog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9046" y="3950208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885078" y="3849624"/>
            <a:ext cx="6949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ADMIN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859536" y="4434840"/>
            <a:ext cx="44988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Every badge pairs an icon + label + color — accessible for kids and color-blind users alike.</a:t>
            </a:r>
            <a:endParaRPr lang="en-US" sz="1050" dirty="0"/>
          </a:p>
        </p:txBody>
      </p:sp>
      <p:sp>
        <p:nvSpPr>
          <p:cNvPr id="32" name="Text 25"/>
          <p:cNvSpPr/>
          <p:nvPr/>
        </p:nvSpPr>
        <p:spPr>
          <a:xfrm>
            <a:off x="859536" y="5074920"/>
            <a:ext cx="449884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One PlaceholderImage component renders every image slot — DRY, consistent, swappable for real art.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035040" y="1691640"/>
            <a:ext cx="5608015" cy="4297680"/>
          </a:xfrm>
          <a:prstGeom prst="roundRect">
            <a:avLst>
              <a:gd name="adj" fmla="val 3404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327648" y="1984248"/>
            <a:ext cx="566928" cy="566928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5" name="Image 5" descr="/home/rayhanyovi/Documents/Projects/storybook/deck/icons/feather_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5049" y="2131649"/>
            <a:ext cx="272125" cy="272125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040880" y="1984248"/>
            <a:ext cx="44192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Motion rules · kid mode</a:t>
            </a:r>
            <a:endParaRPr lang="en-US" sz="1600" dirty="0"/>
          </a:p>
        </p:txBody>
      </p:sp>
      <p:sp>
        <p:nvSpPr>
          <p:cNvPr id="37" name="Shape 29"/>
          <p:cNvSpPr/>
          <p:nvPr/>
        </p:nvSpPr>
        <p:spPr>
          <a:xfrm>
            <a:off x="6345936" y="2898648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38" name="Image 6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6162" y="2968874"/>
            <a:ext cx="152156" cy="152156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6766560" y="283464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Reading view is a motion-free zone — the pause is the content.</a:t>
            </a:r>
            <a:endParaRPr lang="en-US" sz="1150" dirty="0"/>
          </a:p>
        </p:txBody>
      </p:sp>
      <p:sp>
        <p:nvSpPr>
          <p:cNvPr id="40" name="Shape 31"/>
          <p:cNvSpPr/>
          <p:nvPr/>
        </p:nvSpPr>
        <p:spPr>
          <a:xfrm>
            <a:off x="6345936" y="3410712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41" name="Image 7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6162" y="3480938"/>
            <a:ext cx="152156" cy="1521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6766560" y="3346704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Never more than 2 animated elements on screen at once.</a:t>
            </a:r>
            <a:endParaRPr lang="en-US" sz="1150" dirty="0"/>
          </a:p>
        </p:txBody>
      </p:sp>
      <p:sp>
        <p:nvSpPr>
          <p:cNvPr id="43" name="Shape 33"/>
          <p:cNvSpPr/>
          <p:nvPr/>
        </p:nvSpPr>
        <p:spPr>
          <a:xfrm>
            <a:off x="6345936" y="3922776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44" name="Image 8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16162" y="3993002"/>
            <a:ext cx="152156" cy="152156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6766560" y="3858768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auto-advance, no auto-play — every page turn is user-initiated.</a:t>
            </a:r>
            <a:endParaRPr lang="en-US" sz="1150" dirty="0"/>
          </a:p>
        </p:txBody>
      </p:sp>
      <p:sp>
        <p:nvSpPr>
          <p:cNvPr id="46" name="Shape 35"/>
          <p:cNvSpPr/>
          <p:nvPr/>
        </p:nvSpPr>
        <p:spPr>
          <a:xfrm>
            <a:off x="6345936" y="4434840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47" name="Image 9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6162" y="4505066"/>
            <a:ext cx="152156" cy="152156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6766560" y="4370832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Rewards play once, then stop — no variable-reward loops.</a:t>
            </a:r>
            <a:endParaRPr lang="en-US" sz="1150" dirty="0"/>
          </a:p>
        </p:txBody>
      </p:sp>
      <p:sp>
        <p:nvSpPr>
          <p:cNvPr id="49" name="Shape 37"/>
          <p:cNvSpPr/>
          <p:nvPr/>
        </p:nvSpPr>
        <p:spPr>
          <a:xfrm>
            <a:off x="6345936" y="4946904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50" name="Image 10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6162" y="5017130"/>
            <a:ext cx="152156" cy="152156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6766560" y="4882896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Route transitions slow to 400ms (vs 200ms) — toddlers need processing time.</a:t>
            </a:r>
            <a:endParaRPr lang="en-US" sz="1150" dirty="0"/>
          </a:p>
        </p:txBody>
      </p:sp>
      <p:sp>
        <p:nvSpPr>
          <p:cNvPr id="52" name="Shape 39"/>
          <p:cNvSpPr/>
          <p:nvPr/>
        </p:nvSpPr>
        <p:spPr>
          <a:xfrm>
            <a:off x="6345936" y="5458968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53" name="Image 11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6162" y="5529194"/>
            <a:ext cx="152156" cy="152156"/>
          </a:xfrm>
          <a:prstGeom prst="rect">
            <a:avLst/>
          </a:prstGeom>
        </p:spPr>
      </p:pic>
      <p:sp>
        <p:nvSpPr>
          <p:cNvPr id="54" name="Text 40"/>
          <p:cNvSpPr/>
          <p:nvPr/>
        </p:nvSpPr>
        <p:spPr>
          <a:xfrm>
            <a:off x="6766560" y="539496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Always respects prefers-reduced-motion.</a:t>
            </a:r>
            <a:endParaRPr lang="en-US" sz="1150" dirty="0"/>
          </a:p>
        </p:txBody>
      </p:sp>
      <p:sp>
        <p:nvSpPr>
          <p:cNvPr id="55" name="Text 4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Design System</a:t>
            </a:r>
            <a:endParaRPr lang="en-US" sz="900" dirty="0"/>
          </a:p>
        </p:txBody>
      </p:sp>
      <p:sp>
        <p:nvSpPr>
          <p:cNvPr id="56" name="Text 42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PROBLEMS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Decisions, not defaults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Every choice traces back to a real user truth — child development or audience economics, never aesthetics.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810512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810512"/>
            <a:ext cx="128016" cy="603504"/>
          </a:xfrm>
          <a:prstGeom prst="roundRect">
            <a:avLst>
              <a:gd name="adj" fmla="val 42857"/>
            </a:avLst>
          </a:prstGeom>
          <a:solidFill>
            <a:srgbClr val="FF7B54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1810512"/>
            <a:ext cx="3566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Tablet-first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0" cy="384048"/>
          </a:xfrm>
          <a:prstGeom prst="line">
            <a:avLst/>
          </a:prstGeom>
          <a:noFill/>
          <a:ln w="12700">
            <a:solidFill>
              <a:srgbClr val="ECE0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810512"/>
            <a:ext cx="670529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paying parent is an “iPad kid” household — the tablet is the child's device.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523744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523744"/>
            <a:ext cx="128016" cy="603504"/>
          </a:xfrm>
          <a:prstGeom prst="roundRect">
            <a:avLst>
              <a:gd name="adj" fmla="val 42857"/>
            </a:avLst>
          </a:prstGeom>
          <a:solidFill>
            <a:srgbClr val="2EC4B6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2523744"/>
            <a:ext cx="3566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Buyer ≠ reader, split surfaces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26280" y="2633472"/>
            <a:ext cx="0" cy="384048"/>
          </a:xfrm>
          <a:prstGeom prst="line">
            <a:avLst/>
          </a:prstGeom>
          <a:noFill/>
          <a:ln w="12700">
            <a:solidFill>
              <a:srgbClr val="ECE0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2523744"/>
            <a:ext cx="670529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child delights, the parent pays — different needs, held in one brand.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236976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36976"/>
            <a:ext cx="128016" cy="603504"/>
          </a:xfrm>
          <a:prstGeom prst="roundRect">
            <a:avLst>
              <a:gd name="adj" fmla="val 42857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877824" y="3236976"/>
            <a:ext cx="3566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No buy button in kid mode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26280" y="3346704"/>
            <a:ext cx="0" cy="384048"/>
          </a:xfrm>
          <a:prstGeom prst="line">
            <a:avLst/>
          </a:prstGeom>
          <a:noFill/>
          <a:ln w="12700">
            <a:solidFill>
              <a:srgbClr val="ECE0C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36976"/>
            <a:ext cx="670529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toddler can't tell “tap for fun” from “tap to buy” — so remove the gesture entirely.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950208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950208"/>
            <a:ext cx="128016" cy="603504"/>
          </a:xfrm>
          <a:prstGeom prst="roundRect">
            <a:avLst>
              <a:gd name="adj" fmla="val 42857"/>
            </a:avLst>
          </a:prstGeom>
          <a:solidFill>
            <a:srgbClr val="4CB9E7"/>
          </a:solidFill>
          <a:ln/>
        </p:spPr>
      </p:sp>
      <p:sp>
        <p:nvSpPr>
          <p:cNvPr id="23" name="Text 21"/>
          <p:cNvSpPr/>
          <p:nvPr/>
        </p:nvSpPr>
        <p:spPr>
          <a:xfrm>
            <a:off x="877824" y="3950208"/>
            <a:ext cx="3566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6-page books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526280" y="4059936"/>
            <a:ext cx="0" cy="384048"/>
          </a:xfrm>
          <a:prstGeom prst="line">
            <a:avLst/>
          </a:prstGeom>
          <a:noFill/>
          <a:ln w="12700">
            <a:solidFill>
              <a:srgbClr val="ECE0C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3950208"/>
            <a:ext cx="670529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Calibrated to a toddler's 2–5 minute attention span = one complete session.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66344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4663440"/>
            <a:ext cx="128016" cy="603504"/>
          </a:xfrm>
          <a:prstGeom prst="roundRect">
            <a:avLst>
              <a:gd name="adj" fmla="val 42857"/>
            </a:avLst>
          </a:prstGeom>
          <a:solidFill>
            <a:srgbClr val="FFC93C"/>
          </a:solidFill>
          <a:ln/>
        </p:spPr>
      </p:sp>
      <p:sp>
        <p:nvSpPr>
          <p:cNvPr id="28" name="Text 26"/>
          <p:cNvSpPr/>
          <p:nvPr/>
        </p:nvSpPr>
        <p:spPr>
          <a:xfrm>
            <a:off x="877824" y="4663440"/>
            <a:ext cx="3566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Restrained motion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26280" y="4773168"/>
            <a:ext cx="0" cy="384048"/>
          </a:xfrm>
          <a:prstGeom prst="line">
            <a:avLst/>
          </a:prstGeom>
          <a:noFill/>
          <a:ln w="12700">
            <a:solidFill>
              <a:srgbClr val="ECE0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4663440"/>
            <a:ext cx="670529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Immature sensory processing means overstimulation, not engagement.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5376672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8640" y="5376672"/>
            <a:ext cx="128016" cy="603504"/>
          </a:xfrm>
          <a:prstGeom prst="roundRect">
            <a:avLst>
              <a:gd name="adj" fmla="val 42857"/>
            </a:avLst>
          </a:prstGeom>
          <a:solidFill>
            <a:srgbClr val="7BC950"/>
          </a:solidFill>
          <a:ln/>
        </p:spPr>
      </p:sp>
      <p:sp>
        <p:nvSpPr>
          <p:cNvPr id="33" name="Text 31"/>
          <p:cNvSpPr/>
          <p:nvPr/>
        </p:nvSpPr>
        <p:spPr>
          <a:xfrm>
            <a:off x="877824" y="5376672"/>
            <a:ext cx="3566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64–72px tap targets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526280" y="5486400"/>
            <a:ext cx="0" cy="384048"/>
          </a:xfrm>
          <a:prstGeom prst="line">
            <a:avLst/>
          </a:prstGeom>
          <a:noFill/>
          <a:ln w="12700">
            <a:solidFill>
              <a:srgbClr val="ECE0C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5376672"/>
            <a:ext cx="670529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Toddler precision ≈ an adult's non-dominant hand wearing oven mitts.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6089904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8640" y="6089904"/>
            <a:ext cx="128016" cy="603504"/>
          </a:xfrm>
          <a:prstGeom prst="roundRect">
            <a:avLst>
              <a:gd name="adj" fmla="val 42857"/>
            </a:avLst>
          </a:prstGeom>
          <a:solidFill>
            <a:srgbClr val="F2603A"/>
          </a:solidFill>
          <a:ln/>
        </p:spPr>
      </p:sp>
      <p:sp>
        <p:nvSpPr>
          <p:cNvPr id="38" name="Text 36"/>
          <p:cNvSpPr/>
          <p:nvPr/>
        </p:nvSpPr>
        <p:spPr>
          <a:xfrm>
            <a:off x="877824" y="6089904"/>
            <a:ext cx="3566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8 great books &gt; 50 mediocre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4526280" y="6199632"/>
            <a:ext cx="0" cy="384048"/>
          </a:xfrm>
          <a:prstGeom prst="line">
            <a:avLst/>
          </a:prstGeom>
          <a:noFill/>
          <a:ln w="12700">
            <a:solidFill>
              <a:srgbClr val="ECE0C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6089904"/>
            <a:ext cx="670529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Toddlers re-read; curation beats catalog size.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Problems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PROBLEMS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Designing for toddlers is a domain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Five hard truths about young children that a bright color scheme alone can't solve.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15258" cy="1783080"/>
          </a:xfrm>
          <a:prstGeom prst="roundRect">
            <a:avLst>
              <a:gd name="adj" fmla="val 820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103120"/>
            <a:ext cx="603504" cy="603504"/>
          </a:xfrm>
          <a:prstGeom prst="ellipse">
            <a:avLst/>
          </a:prstGeom>
          <a:solidFill>
            <a:srgbClr val="FF4B4B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8" name="Image 0" descr="/home/rayhanyovi/Documents/Projects/storybook/deck/icons/car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2260031"/>
            <a:ext cx="289682" cy="28968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2084832"/>
            <a:ext cx="23265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The accidental purchase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59536" y="2816352"/>
            <a:ext cx="289346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toddler can't distinguish “tapping for fun” from “tapping to buy.” Every tap is the same gesture.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38218" y="1828800"/>
            <a:ext cx="3515258" cy="1783080"/>
          </a:xfrm>
          <a:prstGeom prst="roundRect">
            <a:avLst>
              <a:gd name="adj" fmla="val 820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2538" y="2103120"/>
            <a:ext cx="603504" cy="603504"/>
          </a:xfrm>
          <a:prstGeom prst="ellipse">
            <a:avLst/>
          </a:prstGeom>
          <a:solidFill>
            <a:srgbClr val="FFB020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3" name="Image 1" descr="/home/rayhanyovi/Documents/Projects/storybook/deck/icons/feath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449" y="2260031"/>
            <a:ext cx="289682" cy="28968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4058" y="2084832"/>
            <a:ext cx="23265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Overstimulation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49114" y="2816352"/>
            <a:ext cx="289346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Immature sensory systems mean rapid motion causes distress, not engagement.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27797" y="1828800"/>
            <a:ext cx="3515258" cy="1783080"/>
          </a:xfrm>
          <a:prstGeom prst="roundRect">
            <a:avLst>
              <a:gd name="adj" fmla="val 820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02117" y="2103120"/>
            <a:ext cx="603504" cy="603504"/>
          </a:xfrm>
          <a:prstGeom prst="ellipse">
            <a:avLst/>
          </a:prstGeom>
          <a:solidFill>
            <a:srgbClr val="4CB9E7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8" name="Image 2" descr="/home/rayhanyovi/Documents/Projects/storybook/deck/icons/bookOpe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9028" y="2260031"/>
            <a:ext cx="289682" cy="2896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133637" y="2084832"/>
            <a:ext cx="23265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Pre-literacy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38693" y="2816352"/>
            <a:ext cx="289346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Ages 2–4 can't read — text-only navigation simply doesn't work.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2443429" y="3867912"/>
            <a:ext cx="3515258" cy="1783080"/>
          </a:xfrm>
          <a:prstGeom prst="roundRect">
            <a:avLst>
              <a:gd name="adj" fmla="val 820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2717749" y="4142232"/>
            <a:ext cx="603504" cy="603504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3" name="Image 3" descr="/home/rayhanyovi/Documents/Projects/storybook/deck/icons/han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4660" y="4299143"/>
            <a:ext cx="289682" cy="28968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3449269" y="4123944"/>
            <a:ext cx="23265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Motor precision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2754325" y="4855464"/>
            <a:ext cx="289346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Toddler precision ≈ an adult's non-dominant hand in oven mitts. Small targets fail.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233008" y="3867912"/>
            <a:ext cx="3515258" cy="1783080"/>
          </a:xfrm>
          <a:prstGeom prst="roundRect">
            <a:avLst>
              <a:gd name="adj" fmla="val 820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507328" y="4142232"/>
            <a:ext cx="603504" cy="603504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8" name="Image 4" descr="/home/rayhanyovi/Documents/Projects/storybook/deck/icons/clock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4239" y="4299143"/>
            <a:ext cx="289682" cy="28968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238848" y="4123944"/>
            <a:ext cx="23265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Screen-time anxiety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6543904" y="4855464"/>
            <a:ext cx="289346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Parents worry about duration — control must exist without stressing the child about “time's up.”</a:t>
            </a:r>
            <a:endParaRPr lang="en-US" sz="1150" dirty="0"/>
          </a:p>
        </p:txBody>
      </p:sp>
      <p:sp>
        <p:nvSpPr>
          <p:cNvPr id="31" name="Text 2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Problems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279886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2798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EDGE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No buy button in a toddler's world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468880" cy="1737360"/>
          </a:xfrm>
          <a:prstGeom prst="roundRect">
            <a:avLst>
              <a:gd name="adj" fmla="val 8421"/>
            </a:avLst>
          </a:prstGeom>
          <a:solidFill>
            <a:srgbClr val="2EC4B6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2039112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home/rayhanyovi/Documents/Projects/storybook/deck/icons/child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7515" y="2229307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80720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Kid mode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1520" y="315468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prices. No buy button. Not in the DOM.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017520" y="1783080"/>
            <a:ext cx="40629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7A6D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423818" y="1783080"/>
            <a:ext cx="2468880" cy="1737360"/>
          </a:xfrm>
          <a:prstGeom prst="roundRect">
            <a:avLst>
              <a:gd name="adj" fmla="val 8421"/>
            </a:avLst>
          </a:prstGeom>
          <a:solidFill>
            <a:srgbClr val="A78BFA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92498" y="2039112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/home/rayhanyovi/Documents/Projects/storybook/deck/icons/lock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694" y="2229307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23818" y="280720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Tap locked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3606698" y="315468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“Ask a grown-up” + Oyen — gentle, not scary.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892698" y="1783080"/>
            <a:ext cx="40629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7A6D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6298997" y="1783080"/>
            <a:ext cx="2468880" cy="1737360"/>
          </a:xfrm>
          <a:prstGeom prst="roundRect">
            <a:avLst>
              <a:gd name="adj" fmla="val 8421"/>
            </a:avLst>
          </a:prstGeom>
          <a:solidFill>
            <a:srgbClr val="FF7B54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167677" y="2039112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/home/rayhanyovi/Documents/Projects/storybook/deck/icons/key_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2229307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98997" y="280720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PIN gate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6481877" y="315468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trust boundary — required every time.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8767877" y="1783080"/>
            <a:ext cx="40629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7A6D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8"/>
          <p:cNvSpPr/>
          <p:nvPr/>
        </p:nvSpPr>
        <p:spPr>
          <a:xfrm>
            <a:off x="9174175" y="1783080"/>
            <a:ext cx="2468880" cy="1737360"/>
          </a:xfrm>
          <a:prstGeom prst="roundRect">
            <a:avLst>
              <a:gd name="adj" fmla="val 8421"/>
            </a:avLst>
          </a:prstGeom>
          <a:solidFill>
            <a:srgbClr val="FFC93C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10042855" y="2039112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3" descr="/home/rayhanyovi/Documents/Projects/storybook/deck/icons/store_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3050" y="2229307"/>
            <a:ext cx="351130" cy="35113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174175" y="280720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Parent mode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9357055" y="315468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Only here does a buy button exist.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11094415" cy="1508760"/>
          </a:xfrm>
          <a:prstGeom prst="roundRect">
            <a:avLst>
              <a:gd name="adj" fmla="val 9697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914400" y="4343400"/>
            <a:ext cx="640080" cy="64008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0" name="Image 4" descr="/home/rayhanyovi/Documents/Projects/storybook/deck/icons/shield_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821" y="4509821"/>
            <a:ext cx="307238" cy="30723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783080" y="41788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Structurally absent — not hidden, not permission-checked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1783080" y="4636008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Defense in depth: three surfaces + a PIN gate. No single failure mode — a missed permission check, a UI bug — can ever result in an unauthorized purchase, because there is no purchase UI in kid mode to fail.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991295" y="4142232"/>
            <a:ext cx="2468880" cy="1005840"/>
          </a:xfrm>
          <a:prstGeom prst="roundRect">
            <a:avLst>
              <a:gd name="adj" fmla="val 14545"/>
            </a:avLst>
          </a:prstGeom>
          <a:solidFill>
            <a:srgbClr val="4A3B33"/>
          </a:solidFill>
          <a:ln/>
        </p:spPr>
      </p:sp>
      <p:sp>
        <p:nvSpPr>
          <p:cNvPr id="34" name="Text 27"/>
          <p:cNvSpPr/>
          <p:nvPr/>
        </p:nvSpPr>
        <p:spPr>
          <a:xfrm>
            <a:off x="9137599" y="4142232"/>
            <a:ext cx="221284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FFC93C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Apple prompts for any IAP in age-4+ apps.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FFC93C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We go further — no purchase prompt exists in kid mode at all.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Problems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383487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38348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EDGE CASES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One rule, enforced everywhere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2595296" cy="4526280"/>
          </a:xfrm>
          <a:prstGeom prst="roundRect">
            <a:avLst>
              <a:gd name="adj" fmla="val 563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64208"/>
            <a:ext cx="2595296" cy="877824"/>
          </a:xfrm>
          <a:prstGeom prst="roundRect">
            <a:avLst>
              <a:gd name="adj" fmla="val 16667"/>
            </a:avLst>
          </a:prstGeom>
          <a:solidFill>
            <a:srgbClr val="FF7B5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121408"/>
            <a:ext cx="2595296" cy="420624"/>
          </a:xfrm>
          <a:prstGeom prst="rectangle">
            <a:avLst/>
          </a:prstGeom>
          <a:solidFill>
            <a:srgbClr val="FF7B54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186537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/home/rayhanyovi/Documents/Projects/storybook/deck/icons/exchange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435" y="1989003"/>
            <a:ext cx="228234" cy="2282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98448" y="1865376"/>
            <a:ext cx="17723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Entitlement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49808" y="2779776"/>
            <a:ext cx="292608" cy="292608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12" name="Image 1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34" y="2850002"/>
            <a:ext cx="152156" cy="1521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15568" y="2743200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 expires mid-session</a:t>
            </a:r>
            <a:endParaRPr lang="en-US" sz="1180" dirty="0"/>
          </a:p>
        </p:txBody>
      </p:sp>
      <p:sp>
        <p:nvSpPr>
          <p:cNvPr id="14" name="Text 10"/>
          <p:cNvSpPr/>
          <p:nvPr/>
        </p:nvSpPr>
        <p:spPr>
          <a:xfrm>
            <a:off x="1115568" y="3182112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Read completes; lock applies on next open</a:t>
            </a:r>
            <a:endParaRPr lang="en-US" sz="1020" dirty="0"/>
          </a:p>
        </p:txBody>
      </p:sp>
      <p:sp>
        <p:nvSpPr>
          <p:cNvPr id="15" name="Shape 11"/>
          <p:cNvSpPr/>
          <p:nvPr/>
        </p:nvSpPr>
        <p:spPr>
          <a:xfrm>
            <a:off x="749808" y="3895344"/>
            <a:ext cx="292608" cy="292608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16" name="Image 2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4" y="3965570"/>
            <a:ext cx="152156" cy="1521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15568" y="3858768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Owned + subscribed</a:t>
            </a:r>
            <a:endParaRPr lang="en-US" sz="1180" dirty="0"/>
          </a:p>
        </p:txBody>
      </p:sp>
      <p:sp>
        <p:nvSpPr>
          <p:cNvPr id="18" name="Text 13"/>
          <p:cNvSpPr/>
          <p:nvPr/>
        </p:nvSpPr>
        <p:spPr>
          <a:xfrm>
            <a:off x="1115568" y="4297680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Shows OWNED, not subscription</a:t>
            </a:r>
            <a:endParaRPr lang="en-US" sz="1020" dirty="0"/>
          </a:p>
        </p:txBody>
      </p:sp>
      <p:sp>
        <p:nvSpPr>
          <p:cNvPr id="19" name="Shape 14"/>
          <p:cNvSpPr/>
          <p:nvPr/>
        </p:nvSpPr>
        <p:spPr>
          <a:xfrm>
            <a:off x="749808" y="5010912"/>
            <a:ext cx="292608" cy="292608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20" name="Image 3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034" y="5081138"/>
            <a:ext cx="152156" cy="1521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15568" y="4974336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 lapses</a:t>
            </a:r>
            <a:endParaRPr lang="en-US" sz="1180" dirty="0"/>
          </a:p>
        </p:txBody>
      </p:sp>
      <p:sp>
        <p:nvSpPr>
          <p:cNvPr id="22" name="Text 16"/>
          <p:cNvSpPr/>
          <p:nvPr/>
        </p:nvSpPr>
        <p:spPr>
          <a:xfrm>
            <a:off x="1115568" y="5413248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Falls back to owned books only</a:t>
            </a:r>
            <a:endParaRPr lang="en-US" sz="1020" dirty="0"/>
          </a:p>
        </p:txBody>
      </p:sp>
      <p:sp>
        <p:nvSpPr>
          <p:cNvPr id="23" name="Shape 17"/>
          <p:cNvSpPr/>
          <p:nvPr/>
        </p:nvSpPr>
        <p:spPr>
          <a:xfrm>
            <a:off x="3381680" y="1664208"/>
            <a:ext cx="2595296" cy="4526280"/>
          </a:xfrm>
          <a:prstGeom prst="roundRect">
            <a:avLst>
              <a:gd name="adj" fmla="val 563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381680" y="1664208"/>
            <a:ext cx="2595296" cy="877824"/>
          </a:xfrm>
          <a:prstGeom prst="roundRect">
            <a:avLst>
              <a:gd name="adj" fmla="val 16667"/>
            </a:avLst>
          </a:prstGeom>
          <a:solidFill>
            <a:srgbClr val="FFC93C"/>
          </a:solidFill>
          <a:ln/>
        </p:spPr>
      </p:sp>
      <p:sp>
        <p:nvSpPr>
          <p:cNvPr id="25" name="Shape 19"/>
          <p:cNvSpPr/>
          <p:nvPr/>
        </p:nvSpPr>
        <p:spPr>
          <a:xfrm>
            <a:off x="3381680" y="2121408"/>
            <a:ext cx="2595296" cy="420624"/>
          </a:xfrm>
          <a:prstGeom prst="rectangle">
            <a:avLst/>
          </a:prstGeom>
          <a:solidFill>
            <a:srgbClr val="FFC93C"/>
          </a:solidFill>
          <a:ln/>
        </p:spPr>
      </p:sp>
      <p:sp>
        <p:nvSpPr>
          <p:cNvPr id="26" name="Shape 20"/>
          <p:cNvSpPr/>
          <p:nvPr/>
        </p:nvSpPr>
        <p:spPr>
          <a:xfrm>
            <a:off x="3582848" y="186537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/home/rayhanyovi/Documents/Projects/storybook/deck/icons/creditCard_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475" y="1989003"/>
            <a:ext cx="228234" cy="22823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131488" y="1865376"/>
            <a:ext cx="17723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Payment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3582848" y="2779776"/>
            <a:ext cx="292608" cy="292608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0" name="Image 5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3074" y="2850002"/>
            <a:ext cx="152156" cy="15215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3948608" y="2743200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Duplicate purchase</a:t>
            </a:r>
            <a:endParaRPr lang="en-US" sz="1180" dirty="0"/>
          </a:p>
        </p:txBody>
      </p:sp>
      <p:sp>
        <p:nvSpPr>
          <p:cNvPr id="32" name="Text 24"/>
          <p:cNvSpPr/>
          <p:nvPr/>
        </p:nvSpPr>
        <p:spPr>
          <a:xfrm>
            <a:off x="3948608" y="3182112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Idempotent — returns existing record</a:t>
            </a:r>
            <a:endParaRPr lang="en-US" sz="1020" dirty="0"/>
          </a:p>
        </p:txBody>
      </p:sp>
      <p:sp>
        <p:nvSpPr>
          <p:cNvPr id="33" name="Shape 25"/>
          <p:cNvSpPr/>
          <p:nvPr/>
        </p:nvSpPr>
        <p:spPr>
          <a:xfrm>
            <a:off x="3582848" y="3895344"/>
            <a:ext cx="292608" cy="292608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4" name="Image 6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3074" y="3965570"/>
            <a:ext cx="152156" cy="152156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3948608" y="3858768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Declined card</a:t>
            </a:r>
            <a:endParaRPr lang="en-US" sz="1180" dirty="0"/>
          </a:p>
        </p:txBody>
      </p:sp>
      <p:sp>
        <p:nvSpPr>
          <p:cNvPr id="36" name="Text 27"/>
          <p:cNvSpPr/>
          <p:nvPr/>
        </p:nvSpPr>
        <p:spPr>
          <a:xfrm>
            <a:off x="3948608" y="4297680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Ledger logs FAILED; nothing unlocks</a:t>
            </a:r>
            <a:endParaRPr lang="en-US" sz="1020" dirty="0"/>
          </a:p>
        </p:txBody>
      </p:sp>
      <p:sp>
        <p:nvSpPr>
          <p:cNvPr id="37" name="Shape 28"/>
          <p:cNvSpPr/>
          <p:nvPr/>
        </p:nvSpPr>
        <p:spPr>
          <a:xfrm>
            <a:off x="3582848" y="5010912"/>
            <a:ext cx="292608" cy="292608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8" name="Image 7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3074" y="5081138"/>
            <a:ext cx="152156" cy="152156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3948608" y="4974336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Retry / double-charge</a:t>
            </a:r>
            <a:endParaRPr lang="en-US" sz="1180" dirty="0"/>
          </a:p>
        </p:txBody>
      </p:sp>
      <p:sp>
        <p:nvSpPr>
          <p:cNvPr id="40" name="Text 30"/>
          <p:cNvSpPr/>
          <p:nvPr/>
        </p:nvSpPr>
        <p:spPr>
          <a:xfrm>
            <a:off x="3948608" y="5413248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Blocked by idempotencyKey</a:t>
            </a:r>
            <a:endParaRPr lang="en-US" sz="1020" dirty="0"/>
          </a:p>
        </p:txBody>
      </p:sp>
      <p:sp>
        <p:nvSpPr>
          <p:cNvPr id="41" name="Shape 31"/>
          <p:cNvSpPr/>
          <p:nvPr/>
        </p:nvSpPr>
        <p:spPr>
          <a:xfrm>
            <a:off x="6214720" y="1664208"/>
            <a:ext cx="2595296" cy="4526280"/>
          </a:xfrm>
          <a:prstGeom prst="roundRect">
            <a:avLst>
              <a:gd name="adj" fmla="val 563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42" name="Shape 32"/>
          <p:cNvSpPr/>
          <p:nvPr/>
        </p:nvSpPr>
        <p:spPr>
          <a:xfrm>
            <a:off x="6214720" y="1664208"/>
            <a:ext cx="2595296" cy="877824"/>
          </a:xfrm>
          <a:prstGeom prst="roundRect">
            <a:avLst>
              <a:gd name="adj" fmla="val 16667"/>
            </a:avLst>
          </a:prstGeom>
          <a:solidFill>
            <a:srgbClr val="2EC4B6"/>
          </a:solidFill>
          <a:ln/>
        </p:spPr>
      </p:sp>
      <p:sp>
        <p:nvSpPr>
          <p:cNvPr id="43" name="Shape 33"/>
          <p:cNvSpPr/>
          <p:nvPr/>
        </p:nvSpPr>
        <p:spPr>
          <a:xfrm>
            <a:off x="6214720" y="2121408"/>
            <a:ext cx="2595296" cy="420624"/>
          </a:xfrm>
          <a:prstGeom prst="rectangle">
            <a:avLst/>
          </a:prstGeom>
          <a:solidFill>
            <a:srgbClr val="2EC4B6"/>
          </a:solidFill>
          <a:ln/>
        </p:spPr>
      </p:sp>
      <p:sp>
        <p:nvSpPr>
          <p:cNvPr id="44" name="Shape 34"/>
          <p:cNvSpPr/>
          <p:nvPr/>
        </p:nvSpPr>
        <p:spPr>
          <a:xfrm>
            <a:off x="6415888" y="186537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5" name="Image 8" descr="/home/rayhanyovi/Documents/Projects/storybook/deck/icons/hourglass_in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9514" y="1989003"/>
            <a:ext cx="228234" cy="228234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6964528" y="1865376"/>
            <a:ext cx="17723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Lifecycle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6415888" y="2779776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48" name="Image 9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114" y="2850002"/>
            <a:ext cx="152156" cy="1521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6781648" y="2743200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Book archived after buy</a:t>
            </a:r>
            <a:endParaRPr lang="en-US" sz="1180" dirty="0"/>
          </a:p>
        </p:txBody>
      </p:sp>
      <p:sp>
        <p:nvSpPr>
          <p:cNvPr id="50" name="Text 38"/>
          <p:cNvSpPr/>
          <p:nvPr/>
        </p:nvSpPr>
        <p:spPr>
          <a:xfrm>
            <a:off x="6781648" y="3182112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Still readable for the owner</a:t>
            </a:r>
            <a:endParaRPr lang="en-US" sz="1020" dirty="0"/>
          </a:p>
        </p:txBody>
      </p:sp>
      <p:sp>
        <p:nvSpPr>
          <p:cNvPr id="51" name="Shape 39"/>
          <p:cNvSpPr/>
          <p:nvPr/>
        </p:nvSpPr>
        <p:spPr>
          <a:xfrm>
            <a:off x="6415888" y="3895344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52" name="Image 10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6114" y="3965570"/>
            <a:ext cx="152156" cy="152156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6781648" y="3858768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Archived for others</a:t>
            </a:r>
            <a:endParaRPr lang="en-US" sz="1180" dirty="0"/>
          </a:p>
        </p:txBody>
      </p:sp>
      <p:sp>
        <p:nvSpPr>
          <p:cNvPr id="54" name="Text 41"/>
          <p:cNvSpPr/>
          <p:nvPr/>
        </p:nvSpPr>
        <p:spPr>
          <a:xfrm>
            <a:off x="6781648" y="4297680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Invisible in the catalog</a:t>
            </a:r>
            <a:endParaRPr lang="en-US" sz="1020" dirty="0"/>
          </a:p>
        </p:txBody>
      </p:sp>
      <p:sp>
        <p:nvSpPr>
          <p:cNvPr id="55" name="Shape 42"/>
          <p:cNvSpPr/>
          <p:nvPr/>
        </p:nvSpPr>
        <p:spPr>
          <a:xfrm>
            <a:off x="6415888" y="5010912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56" name="Image 11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6114" y="5081138"/>
            <a:ext cx="152156" cy="152156"/>
          </a:xfrm>
          <a:prstGeom prst="rect">
            <a:avLst/>
          </a:prstGeom>
        </p:spPr>
      </p:pic>
      <p:sp>
        <p:nvSpPr>
          <p:cNvPr id="57" name="Text 43"/>
          <p:cNvSpPr/>
          <p:nvPr/>
        </p:nvSpPr>
        <p:spPr>
          <a:xfrm>
            <a:off x="6781648" y="4974336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Soft-delete</a:t>
            </a:r>
            <a:endParaRPr lang="en-US" sz="1180" dirty="0"/>
          </a:p>
        </p:txBody>
      </p:sp>
      <p:sp>
        <p:nvSpPr>
          <p:cNvPr id="58" name="Text 44"/>
          <p:cNvSpPr/>
          <p:nvPr/>
        </p:nvSpPr>
        <p:spPr>
          <a:xfrm>
            <a:off x="6781648" y="5413248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ARCHIVED preserves ownership</a:t>
            </a:r>
            <a:endParaRPr lang="en-US" sz="1020" dirty="0"/>
          </a:p>
        </p:txBody>
      </p:sp>
      <p:sp>
        <p:nvSpPr>
          <p:cNvPr id="59" name="Shape 45"/>
          <p:cNvSpPr/>
          <p:nvPr/>
        </p:nvSpPr>
        <p:spPr>
          <a:xfrm>
            <a:off x="9047759" y="1664208"/>
            <a:ext cx="2595296" cy="4526280"/>
          </a:xfrm>
          <a:prstGeom prst="roundRect">
            <a:avLst>
              <a:gd name="adj" fmla="val 563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0" name="Shape 46"/>
          <p:cNvSpPr/>
          <p:nvPr/>
        </p:nvSpPr>
        <p:spPr>
          <a:xfrm>
            <a:off x="9047759" y="1664208"/>
            <a:ext cx="2595296" cy="877824"/>
          </a:xfrm>
          <a:prstGeom prst="roundRect">
            <a:avLst>
              <a:gd name="adj" fmla="val 16667"/>
            </a:avLst>
          </a:prstGeom>
          <a:solidFill>
            <a:srgbClr val="A78BFA"/>
          </a:solidFill>
          <a:ln/>
        </p:spPr>
      </p:sp>
      <p:sp>
        <p:nvSpPr>
          <p:cNvPr id="61" name="Shape 47"/>
          <p:cNvSpPr/>
          <p:nvPr/>
        </p:nvSpPr>
        <p:spPr>
          <a:xfrm>
            <a:off x="9047759" y="2121408"/>
            <a:ext cx="2595296" cy="420624"/>
          </a:xfrm>
          <a:prstGeom prst="rectangle">
            <a:avLst/>
          </a:prstGeom>
          <a:solidFill>
            <a:srgbClr val="A78BFA"/>
          </a:solidFill>
          <a:ln/>
        </p:spPr>
      </p:sp>
      <p:sp>
        <p:nvSpPr>
          <p:cNvPr id="62" name="Shape 48"/>
          <p:cNvSpPr/>
          <p:nvPr/>
        </p:nvSpPr>
        <p:spPr>
          <a:xfrm>
            <a:off x="9248927" y="186537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3" name="Image 12" descr="/home/rayhanyovi/Documents/Projects/storybook/deck/icons/shield_ink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72554" y="1989003"/>
            <a:ext cx="228234" cy="228234"/>
          </a:xfrm>
          <a:prstGeom prst="rect">
            <a:avLst/>
          </a:prstGeom>
        </p:spPr>
      </p:pic>
      <p:sp>
        <p:nvSpPr>
          <p:cNvPr id="64" name="Text 49"/>
          <p:cNvSpPr/>
          <p:nvPr/>
        </p:nvSpPr>
        <p:spPr>
          <a:xfrm>
            <a:off x="9797567" y="1865376"/>
            <a:ext cx="17723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Safety</a:t>
            </a:r>
            <a:endParaRPr lang="en-US" sz="1500" dirty="0"/>
          </a:p>
        </p:txBody>
      </p:sp>
      <p:sp>
        <p:nvSpPr>
          <p:cNvPr id="65" name="Shape 50"/>
          <p:cNvSpPr/>
          <p:nvPr/>
        </p:nvSpPr>
        <p:spPr>
          <a:xfrm>
            <a:off x="9248927" y="2779776"/>
            <a:ext cx="292608" cy="292608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66" name="Image 13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19153" y="2850002"/>
            <a:ext cx="152156" cy="152156"/>
          </a:xfrm>
          <a:prstGeom prst="rect">
            <a:avLst/>
          </a:prstGeom>
        </p:spPr>
      </p:pic>
      <p:sp>
        <p:nvSpPr>
          <p:cNvPr id="67" name="Text 51"/>
          <p:cNvSpPr/>
          <p:nvPr/>
        </p:nvSpPr>
        <p:spPr>
          <a:xfrm>
            <a:off x="9614687" y="2743200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No buy in kid mode</a:t>
            </a:r>
            <a:endParaRPr lang="en-US" sz="1180" dirty="0"/>
          </a:p>
        </p:txBody>
      </p:sp>
      <p:sp>
        <p:nvSpPr>
          <p:cNvPr id="68" name="Text 52"/>
          <p:cNvSpPr/>
          <p:nvPr/>
        </p:nvSpPr>
        <p:spPr>
          <a:xfrm>
            <a:off x="9614687" y="3182112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Structurally absent from the DOM</a:t>
            </a:r>
            <a:endParaRPr lang="en-US" sz="1020" dirty="0"/>
          </a:p>
        </p:txBody>
      </p:sp>
      <p:sp>
        <p:nvSpPr>
          <p:cNvPr id="69" name="Shape 53"/>
          <p:cNvSpPr/>
          <p:nvPr/>
        </p:nvSpPr>
        <p:spPr>
          <a:xfrm>
            <a:off x="9248927" y="3895344"/>
            <a:ext cx="292608" cy="292608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70" name="Image 14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19153" y="3965570"/>
            <a:ext cx="152156" cy="152156"/>
          </a:xfrm>
          <a:prstGeom prst="rect">
            <a:avLst/>
          </a:prstGeom>
        </p:spPr>
      </p:pic>
      <p:sp>
        <p:nvSpPr>
          <p:cNvPr id="71" name="Text 54"/>
          <p:cNvSpPr/>
          <p:nvPr/>
        </p:nvSpPr>
        <p:spPr>
          <a:xfrm>
            <a:off x="9614687" y="3858768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PIN gate</a:t>
            </a:r>
            <a:endParaRPr lang="en-US" sz="1180" dirty="0"/>
          </a:p>
        </p:txBody>
      </p:sp>
      <p:sp>
        <p:nvSpPr>
          <p:cNvPr id="72" name="Text 55"/>
          <p:cNvSpPr/>
          <p:nvPr/>
        </p:nvSpPr>
        <p:spPr>
          <a:xfrm>
            <a:off x="9614687" y="4297680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Before parent mode &amp; checkout</a:t>
            </a:r>
            <a:endParaRPr lang="en-US" sz="1020" dirty="0"/>
          </a:p>
        </p:txBody>
      </p:sp>
      <p:sp>
        <p:nvSpPr>
          <p:cNvPr id="73" name="Shape 56"/>
          <p:cNvSpPr/>
          <p:nvPr/>
        </p:nvSpPr>
        <p:spPr>
          <a:xfrm>
            <a:off x="9248927" y="5010912"/>
            <a:ext cx="292608" cy="292608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74" name="Image 15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19153" y="5081138"/>
            <a:ext cx="152156" cy="152156"/>
          </a:xfrm>
          <a:prstGeom prst="rect">
            <a:avLst/>
          </a:prstGeom>
        </p:spPr>
      </p:pic>
      <p:sp>
        <p:nvSpPr>
          <p:cNvPr id="75" name="Text 57"/>
          <p:cNvSpPr/>
          <p:nvPr/>
        </p:nvSpPr>
        <p:spPr>
          <a:xfrm>
            <a:off x="9614687" y="4974336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Defense in depth</a:t>
            </a:r>
            <a:endParaRPr lang="en-US" sz="1180" dirty="0"/>
          </a:p>
        </p:txBody>
      </p:sp>
      <p:sp>
        <p:nvSpPr>
          <p:cNvPr id="76" name="Text 58"/>
          <p:cNvSpPr/>
          <p:nvPr/>
        </p:nvSpPr>
        <p:spPr>
          <a:xfrm>
            <a:off x="9614687" y="5413248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single failure = a buy</a:t>
            </a:r>
            <a:endParaRPr lang="en-US" sz="1020" dirty="0"/>
          </a:p>
        </p:txBody>
      </p:sp>
      <p:sp>
        <p:nvSpPr>
          <p:cNvPr id="77" name="Text 5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Problems</a:t>
            </a:r>
            <a:endParaRPr lang="en-US" sz="900" dirty="0"/>
          </a:p>
        </p:txBody>
      </p:sp>
      <p:sp>
        <p:nvSpPr>
          <p:cNvPr id="78" name="Text 60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279886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2798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EDGE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The pause is the content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937760" cy="4297680"/>
          </a:xfrm>
          <a:prstGeom prst="roundRect">
            <a:avLst>
              <a:gd name="adj" fmla="val 3404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03120"/>
            <a:ext cx="4206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"The reading view is a calm zone — nothing moves in the background."</a:t>
            </a:r>
            <a:endParaRPr lang="en-US" sz="2200" dirty="0"/>
          </a:p>
        </p:txBody>
      </p:sp>
      <p:pic>
        <p:nvPicPr>
          <p:cNvPr id="7" name="Image 0" descr="/home/rayhanyovi/Documents/Projects/storybook/deck/assets/n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3520440"/>
            <a:ext cx="1931213" cy="2194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53492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Same “still frame” principle as Bluey, Peppa Pig &amp; Dora — the slowness is deliberate, not cheap.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52160" y="1691640"/>
            <a:ext cx="5790895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071616" y="1947672"/>
            <a:ext cx="512064" cy="512064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1" name="Image 1" descr="/home/rayhanyovi/Documents/Projects/storybook/deck/icons/feath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753" y="2080809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748272" y="1856232"/>
            <a:ext cx="469361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Motion-free zone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144768" y="2240280"/>
            <a:ext cx="524225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Oyen bobbing, no floating particles, nothing animating behind the story.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852160" y="2788920"/>
            <a:ext cx="5790895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071616" y="3044952"/>
            <a:ext cx="512064" cy="512064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16" name="Image 2" descr="/home/rayhanyovi/Documents/Projects/storybook/deck/icons/han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753" y="3178089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48272" y="2953512"/>
            <a:ext cx="469361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User-initiated turns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144768" y="3337560"/>
            <a:ext cx="524225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auto-advance, no auto-play — the child controls the pace, always.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852160" y="3886200"/>
            <a:ext cx="5790895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071616" y="4142232"/>
            <a:ext cx="512064" cy="512064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21" name="Image 3" descr="/home/rayhanyovi/Documents/Projects/storybook/deck/icons/ba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753" y="4275369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48272" y="4050792"/>
            <a:ext cx="469361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Pinch-to-zoom disabled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144768" y="4434840"/>
            <a:ext cx="524225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Toddlers pinch by accident; touch-action: pan-y keeps the page steady.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852160" y="4983480"/>
            <a:ext cx="5790895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071616" y="5239512"/>
            <a:ext cx="512064" cy="512064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26" name="Image 4" descr="/home/rayhanyovi/Documents/Projects/storybook/deck/icons/book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753" y="5372649"/>
            <a:ext cx="245791" cy="24579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748272" y="5148072"/>
            <a:ext cx="469361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Continue where they left off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6144768" y="5532120"/>
            <a:ext cx="524225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Reading progress remembers the last page reached, per book.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Problems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What's built, across every surface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541004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38528"/>
            <a:ext cx="548640" cy="548640"/>
          </a:xfrm>
          <a:prstGeom prst="ellipse">
            <a:avLst/>
          </a:prstGeom>
          <a:solidFill>
            <a:srgbClr val="FFC93C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7" name="Image 0" descr="/home/rayhanyovi/Documents/Projects/storybook/deck/icons/us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081174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17904" y="1938528"/>
            <a:ext cx="431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Auth &amp; onboarding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77824" y="2596896"/>
            <a:ext cx="475168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Mock login + quick-pick profile chips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4-step onboarding: Welcome → How it works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Set Parent PIN → Who's reading?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Personalizes the catalog from minute one</a:t>
            </a:r>
            <a:endParaRPr lang="en-US" sz="1180" dirty="0"/>
          </a:p>
        </p:txBody>
      </p:sp>
      <p:sp>
        <p:nvSpPr>
          <p:cNvPr id="10" name="Shape 7"/>
          <p:cNvSpPr/>
          <p:nvPr/>
        </p:nvSpPr>
        <p:spPr>
          <a:xfrm>
            <a:off x="6233008" y="1664208"/>
            <a:ext cx="541004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25616" y="1938528"/>
            <a:ext cx="548640" cy="548640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2" name="Image 1" descr="/home/rayhanyovi/Documents/Projects/storybook/deck/icons/bookRead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262" y="2081174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02272" y="1938528"/>
            <a:ext cx="431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Kid surface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562192" y="2596896"/>
            <a:ext cx="475168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Catalog grid + category &amp; age filters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Paper-flip reader + read-aloud narration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Confetti reward on the last page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Locked books → gentle “Ask a grown-up”</a:t>
            </a:r>
            <a:endParaRPr lang="en-US" sz="1180" dirty="0"/>
          </a:p>
        </p:txBody>
      </p:sp>
      <p:sp>
        <p:nvSpPr>
          <p:cNvPr id="15" name="Shape 11"/>
          <p:cNvSpPr/>
          <p:nvPr/>
        </p:nvSpPr>
        <p:spPr>
          <a:xfrm>
            <a:off x="548640" y="3986784"/>
            <a:ext cx="541004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1248" y="4261104"/>
            <a:ext cx="548640" cy="548640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7" name="Image 2" descr="/home/rayhanyovi/Documents/Projects/storybook/deck/icons/ke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894" y="4403750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17904" y="4261104"/>
            <a:ext cx="431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Parent surface · PIN-gated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77824" y="4919472"/>
            <a:ext cx="475168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Subscribe, renew &amp; manage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Buy-to-keep individual books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Library, account &amp; purchase history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Child progress + screen-time limit</a:t>
            </a:r>
            <a:endParaRPr lang="en-US" sz="1180" dirty="0"/>
          </a:p>
        </p:txBody>
      </p:sp>
      <p:sp>
        <p:nvSpPr>
          <p:cNvPr id="20" name="Shape 15"/>
          <p:cNvSpPr/>
          <p:nvPr/>
        </p:nvSpPr>
        <p:spPr>
          <a:xfrm>
            <a:off x="6233008" y="3986784"/>
            <a:ext cx="541004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25616" y="4261104"/>
            <a:ext cx="548640" cy="548640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2" name="Image 3" descr="/home/rayhanyovi/Documents/Projects/storybook/deck/icons/slidersH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8262" y="4403750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02272" y="4261104"/>
            <a:ext cx="431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Admin surface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562192" y="4919472"/>
            <a:ext cx="475168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Full catalog CRUD + soft archive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Content wizard: cover + page-by-page text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Draft → Published → Archived lifecycle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Category &amp; metadata management</a:t>
            </a:r>
            <a:endParaRPr lang="en-US" sz="1180" dirty="0"/>
          </a:p>
        </p:txBody>
      </p:sp>
      <p:sp>
        <p:nvSpPr>
          <p:cNvPr id="25" name="Text 1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Features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The unlock journey — the key flow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920240" cy="192024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24712" y="2212848"/>
            <a:ext cx="768096" cy="768096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7" name="Image 0" descr="/home/rayhanyovi/Documents/Projects/storybook/deck/icons/bookRead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4417" y="2412553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07238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Browse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5800" y="3419856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Kid mode catalog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68880" y="1920240"/>
            <a:ext cx="373304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842184" y="1920240"/>
            <a:ext cx="1920240" cy="192024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18256" y="2212848"/>
            <a:ext cx="768096" cy="768096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3" name="Image 1" descr="/home/rayhanyovi/Documents/Projects/storybook/deck/icons/loc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7961" y="2412553"/>
            <a:ext cx="368686" cy="36868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42184" y="307238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Tap locked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2979344" y="3419856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“Ask a grown-up” + Oyen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762424" y="1920240"/>
            <a:ext cx="373304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135728" y="1920240"/>
            <a:ext cx="1920240" cy="192024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711800" y="2212848"/>
            <a:ext cx="768096" cy="768096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9" name="Image 2" descr="/home/rayhanyovi/Documents/Projects/storybook/deck/icons/ke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505" y="2412553"/>
            <a:ext cx="368686" cy="36868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135728" y="307238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PIN gate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5272888" y="3419856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Enter parent mode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7055968" y="1920240"/>
            <a:ext cx="373304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7429271" y="1920240"/>
            <a:ext cx="1920240" cy="192024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05343" y="2212848"/>
            <a:ext cx="768096" cy="768096"/>
          </a:xfrm>
          <a:prstGeom prst="ellipse">
            <a:avLst/>
          </a:prstGeom>
          <a:solidFill>
            <a:srgbClr val="FFC93C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5" name="Image 3" descr="/home/rayhanyovi/Documents/Projects/storybook/deck/icons/stor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5048" y="2412553"/>
            <a:ext cx="368686" cy="36868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429271" y="307238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Subscribe / Buy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7566431" y="3419856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Mock payment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9349511" y="1920240"/>
            <a:ext cx="373304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2200" dirty="0"/>
          </a:p>
        </p:txBody>
      </p:sp>
      <p:sp>
        <p:nvSpPr>
          <p:cNvPr id="29" name="Shape 23"/>
          <p:cNvSpPr/>
          <p:nvPr/>
        </p:nvSpPr>
        <p:spPr>
          <a:xfrm>
            <a:off x="9722815" y="1920240"/>
            <a:ext cx="1920240" cy="192024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0298887" y="2212848"/>
            <a:ext cx="768096" cy="768096"/>
          </a:xfrm>
          <a:prstGeom prst="ellipse">
            <a:avLst/>
          </a:prstGeom>
          <a:solidFill>
            <a:srgbClr val="7BC950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31" name="Image 4" descr="/home/rayhanyovi/Documents/Projects/storybook/deck/icons/lockOpe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8592" y="2412553"/>
            <a:ext cx="368686" cy="368686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722815" y="307238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Unlocked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9859975" y="3419856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Open the reader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548640" y="4297680"/>
            <a:ext cx="11094415" cy="1371600"/>
          </a:xfrm>
          <a:prstGeom prst="roundRect">
            <a:avLst>
              <a:gd name="adj" fmla="val 10667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6" name="Image 5" descr="/home/rayhanyovi/Documents/Projects/storybook/deck/icons/route_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1" y="4829861"/>
            <a:ext cx="307238" cy="307238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783080" y="4297680"/>
            <a:ext cx="95399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One path turns a locked tap into a sale — without a child ever seeing checkout.  </a:t>
            </a:r>
            <a:pPr algn="l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PIN gate is the hinge: it converts the child's curiosity into a parent's deliberate, trusted decision. Whether they subscribe or buy-to-keep, the book unlocks and the reader opens immediately.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Features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Reading that feels like a board book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035040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947672"/>
            <a:ext cx="512064" cy="512064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7" name="Image 0" descr="/home/rayhanyovi/Documents/Projects/storybook/deck/icons/book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233" y="2080809"/>
            <a:ext cx="245791" cy="2457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44752" y="185623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Swipe / paper-flip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41248" y="225856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react-pageflip — single page on narrow, a two-page spread on wide tablets.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6035040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68096" y="3044952"/>
            <a:ext cx="512064" cy="512064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12" name="Image 1" descr="/home/rayhanyovi/Documents/Projects/storybook/deck/icons/han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3" y="3178089"/>
            <a:ext cx="245791" cy="24579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44752" y="295351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Why swipe?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841248" y="335584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It maps directly to how a toddler holds a physical board book — continuity, not a departure.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886200"/>
            <a:ext cx="6035040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68096" y="4142232"/>
            <a:ext cx="512064" cy="512064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17" name="Image 2" descr="/home/rayhanyovi/Documents/Projects/storybook/deck/icons/sta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3" y="4275369"/>
            <a:ext cx="245791" cy="24579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44752" y="405079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Finite reward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41248" y="4453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last page fires a confetti burst + Oyen celebrating — once, then it stops.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48640" y="4983480"/>
            <a:ext cx="6035040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68096" y="5239512"/>
            <a:ext cx="512064" cy="512064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22" name="Image 3" descr="/home/rayhanyovi/Documents/Projects/storybook/deck/icons/boo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3" y="5372649"/>
            <a:ext cx="245791" cy="24579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44752" y="514807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Continue where they left off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841248" y="55504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Reading progress remembers the last page reached, per child, per book.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949440" y="1691640"/>
            <a:ext cx="4693615" cy="4297680"/>
          </a:xfrm>
          <a:prstGeom prst="roundRect">
            <a:avLst>
              <a:gd name="adj" fmla="val 3404"/>
            </a:avLst>
          </a:prstGeom>
          <a:solidFill>
            <a:srgbClr val="FFEFC4"/>
          </a:solidFill>
          <a:ln/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223760" y="1965960"/>
            <a:ext cx="2108698" cy="310896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/>
        </p:spPr>
      </p:sp>
      <p:sp>
        <p:nvSpPr>
          <p:cNvPr id="27" name="Text 21"/>
          <p:cNvSpPr/>
          <p:nvPr/>
        </p:nvSpPr>
        <p:spPr>
          <a:xfrm>
            <a:off x="7223760" y="1965960"/>
            <a:ext cx="21086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REWARD MOMENT</a:t>
            </a:r>
            <a:endParaRPr lang="en-US" sz="1100" dirty="0"/>
          </a:p>
        </p:txBody>
      </p:sp>
      <p:pic>
        <p:nvPicPr>
          <p:cNvPr id="28" name="Image 4" descr="/home/rayhanyovi/Documents/Projects/storybook/deck/assets/n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6128" y="2560320"/>
            <a:ext cx="1921557" cy="21945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132320" y="4892040"/>
            <a:ext cx="4327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603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"You finished the story!"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7223760" y="5349240"/>
            <a:ext cx="41449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clear emotional endpoint — the child knows the session is complete.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Features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Read it aloud — the app voices the story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035040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947672"/>
            <a:ext cx="512064" cy="512064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7" name="Image 0" descr="/home/rayhanyovi/Documents/Projects/storybook/deck/icons/han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233" y="2080809"/>
            <a:ext cx="245791" cy="2457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44752" y="185623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Tap to be read to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41248" y="225856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child who can't read yet taps the page — the story is spoken aloud at a calm pace.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6035040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68096" y="3044952"/>
            <a:ext cx="512064" cy="512064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2" name="Image 1" descr="/home/rayhanyovi/Documents/Projects/storybook/deck/icons/robo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3" y="3178089"/>
            <a:ext cx="245791" cy="24579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44752" y="295351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Voice built in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841248" y="335584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 the demo the browser's speech synthesis narrates; production swaps in recorded voice-over.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886200"/>
            <a:ext cx="6035040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68096" y="4142232"/>
            <a:ext cx="512064" cy="512064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17" name="Image 2" descr="/home/rayhanyovi/Documents/Projects/storybook/deck/icons/bookOpe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3" y="4275369"/>
            <a:ext cx="245791" cy="24579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44752" y="405079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Admin writes the script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41248" y="4453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Read-aloud speaks the exact page text admins type in the content wizard — one source of truth.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48640" y="4983480"/>
            <a:ext cx="6035040" cy="987552"/>
          </a:xfrm>
          <a:prstGeom prst="roundRect">
            <a:avLst>
              <a:gd name="adj" fmla="val 1481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68096" y="5239512"/>
            <a:ext cx="512064" cy="512064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22" name="Image 3" descr="/home/rayhanyovi/Documents/Projects/storybook/deck/icons/feather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3" y="5372649"/>
            <a:ext cx="245791" cy="24579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44752" y="5148072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Calm, not loud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841248" y="55504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Optional and child-initiated — it fits the motion-free reading zone instead of fighting it.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949440" y="1691640"/>
            <a:ext cx="4693615" cy="4297680"/>
          </a:xfrm>
          <a:prstGeom prst="roundRect">
            <a:avLst>
              <a:gd name="adj" fmla="val 3404"/>
            </a:avLst>
          </a:prstGeom>
          <a:solidFill>
            <a:srgbClr val="D9F3EF"/>
          </a:solidFill>
          <a:ln/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223760" y="1965960"/>
            <a:ext cx="2315901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27" name="Text 21"/>
          <p:cNvSpPr/>
          <p:nvPr/>
        </p:nvSpPr>
        <p:spPr>
          <a:xfrm>
            <a:off x="7223760" y="1965960"/>
            <a:ext cx="23159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ONE SOURCE OF TRUTH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7269480" y="2560320"/>
            <a:ext cx="4053535" cy="1143000"/>
          </a:xfrm>
          <a:prstGeom prst="roundRect">
            <a:avLst>
              <a:gd name="adj" fmla="val 128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470648" y="2788920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0" name="Image 4" descr="/home/rayhanyovi/Documents/Projects/storybook/deck/icons/bookOpe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2907792"/>
            <a:ext cx="219456" cy="21945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8037576" y="2734056"/>
            <a:ext cx="3139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Admin types the page text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7543800" y="3154680"/>
            <a:ext cx="3504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“Once upon a time, a little star…”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9113368" y="37398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C4B6"/>
                </a:solidFill>
              </a:rPr>
              <a:t>▼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7269480" y="4050792"/>
            <a:ext cx="4053535" cy="1143000"/>
          </a:xfrm>
          <a:prstGeom prst="roundRect">
            <a:avLst>
              <a:gd name="adj" fmla="val 12800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7470648" y="4279392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6" name="Image 5" descr="/home/rayhanyovi/Documents/Projects/storybook/deck/icons/robot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4398264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037576" y="4224528"/>
            <a:ext cx="3139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The app reads it aloud</a:t>
            </a:r>
            <a:endParaRPr lang="en-US" sz="1250" dirty="0"/>
          </a:p>
        </p:txBody>
      </p:sp>
      <p:sp>
        <p:nvSpPr>
          <p:cNvPr id="38" name="Text 30"/>
          <p:cNvSpPr/>
          <p:nvPr/>
        </p:nvSpPr>
        <p:spPr>
          <a:xfrm>
            <a:off x="7543800" y="4645152"/>
            <a:ext cx="3504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Spoken to the child, page by page.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7223760" y="5349240"/>
            <a:ext cx="41449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voice never reads anything an admin didn't write.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Features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Two ways to pay — never merged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490874" cy="3108960"/>
          </a:xfrm>
          <a:prstGeom prst="roundRect">
            <a:avLst>
              <a:gd name="adj" fmla="val 470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910029" y="2048256"/>
            <a:ext cx="768096" cy="768096"/>
          </a:xfrm>
          <a:prstGeom prst="ellipse">
            <a:avLst/>
          </a:prstGeom>
          <a:solidFill>
            <a:srgbClr val="7BC950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7" name="Image 0" descr="/home/rayhanyovi/Documents/Projects/storybook/deck/icons/gif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9734" y="224796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962656"/>
            <a:ext cx="34908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Free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48640" y="3328416"/>
            <a:ext cx="349087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C95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Rp 0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621024"/>
            <a:ext cx="3490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taste of the product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05840" y="3986784"/>
            <a:ext cx="266791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Open to any logged-in user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Always accessible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Acquisition / discovery hook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50410" y="1627632"/>
            <a:ext cx="3490874" cy="3328416"/>
          </a:xfrm>
          <a:prstGeom prst="roundRect">
            <a:avLst>
              <a:gd name="adj" fmla="val 4396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318608" y="18288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/>
        </p:spPr>
      </p:sp>
      <p:sp>
        <p:nvSpPr>
          <p:cNvPr id="14" name="Text 11"/>
          <p:cNvSpPr/>
          <p:nvPr/>
        </p:nvSpPr>
        <p:spPr>
          <a:xfrm>
            <a:off x="5318608" y="1828800"/>
            <a:ext cx="1554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MOST COMPLETE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711800" y="2304288"/>
            <a:ext cx="768096" cy="768096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6" name="Image 1" descr="/home/rayhanyovi/Documents/Projects/storybook/deck/icons/infinit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05" y="2503993"/>
            <a:ext cx="368686" cy="36868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350410" y="3218688"/>
            <a:ext cx="34908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Subscription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4350410" y="3584448"/>
            <a:ext cx="349087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Rp 49.000 / mo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350410" y="3877056"/>
            <a:ext cx="3490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whole library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807610" y="4242816"/>
            <a:ext cx="266791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Unlimited access while active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Includes books added later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Renews +30 days, no error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152181" y="1737360"/>
            <a:ext cx="3490874" cy="3108960"/>
          </a:xfrm>
          <a:prstGeom prst="roundRect">
            <a:avLst>
              <a:gd name="adj" fmla="val 470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9513570" y="2048256"/>
            <a:ext cx="768096" cy="768096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3" name="Image 2" descr="/home/rayhanyovi/Documents/Projects/storybook/deck/icons/crow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3275" y="2247961"/>
            <a:ext cx="368686" cy="36868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152181" y="2962656"/>
            <a:ext cx="34908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Buy-to-keep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8152181" y="3328416"/>
            <a:ext cx="349087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Per book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8152181" y="3621024"/>
            <a:ext cx="3490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 it forever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609381" y="3986784"/>
            <a:ext cx="266791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Permanent ownership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Survives subscription churn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Buy even while subscribed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17778"/>
            </a:avLst>
          </a:prstGeom>
          <a:solidFill>
            <a:srgbClr val="FFEFC4"/>
          </a:solidFill>
          <a:ln/>
        </p:spPr>
      </p:sp>
      <p:pic>
        <p:nvPicPr>
          <p:cNvPr id="29" name="Image 3" descr="/home/rayhanyovi/Documents/Projects/storybook/deck/assets/ntreasu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46320"/>
            <a:ext cx="1422075" cy="146304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2423160" y="5303520"/>
            <a:ext cx="89455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Ownership and subscription are independent entitlements.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Tracked separately, never merged — so a cancelled subscriber still keeps every book they bought.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Features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Know your child's favorite book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480560" cy="4297680"/>
          </a:xfrm>
          <a:prstGeom prst="roundRect">
            <a:avLst>
              <a:gd name="adj" fmla="val 3404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984248"/>
            <a:ext cx="2405375" cy="310896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84248"/>
            <a:ext cx="240537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MOST RE-READ THIS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801368" y="2606040"/>
            <a:ext cx="1975104" cy="1517938"/>
          </a:xfrm>
          <a:prstGeom prst="roundRect">
            <a:avLst>
              <a:gd name="adj" fmla="val 8434"/>
            </a:avLst>
          </a:prstGeom>
          <a:solidFill>
            <a:srgbClr val="2A211C"/>
          </a:solidFill>
          <a:ln/>
          <a:effectLst>
            <a:outerShdw sx="100000" sy="100000" kx="0" ky="0" algn="bl" rotWithShape="0" blurRad="114300" dist="38100" dir="5400000">
              <a:srgbClr val="3A2E28">
                <a:alpha val="30000"/>
              </a:srgbClr>
            </a:outerShdw>
          </a:effectLst>
        </p:spPr>
      </p:sp>
      <p:pic>
        <p:nvPicPr>
          <p:cNvPr id="9" name="Image 0" descr="/home/rayhanyovi/Documents/Projects/storybook/deck/assets/cov_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79192"/>
            <a:ext cx="1828800" cy="13716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414226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Goodnight, Little Star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454460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12×</a:t>
            </a:r>
            <a:pPr algn="ctr" indent="0" marL="0">
              <a:buNone/>
            </a:pPr>
            <a:r>
              <a:rPr lang="en-US" sz="12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opened this month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22960" y="500180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More than twice any other book.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394960" y="1691640"/>
            <a:ext cx="6248095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Not a dashboard. A window into your child's world.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394960" y="2560320"/>
            <a:ext cx="6248095" cy="786384"/>
          </a:xfrm>
          <a:prstGeom prst="roundRect">
            <a:avLst>
              <a:gd name="adj" fmla="val 1860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96128" y="2724912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6" name="Image 1" descr="/home/rayhanyovi/Documents/Projects/storybook/deck/icons/sync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84378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81344" y="2615184"/>
            <a:ext cx="528797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Favorite = most repeated, not most recent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4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toddler's favorite is the one they ask for again and again — so we count re-reads, not last-opened.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394960" y="3438144"/>
            <a:ext cx="6248095" cy="786384"/>
          </a:xfrm>
          <a:prstGeom prst="roundRect">
            <a:avLst>
              <a:gd name="adj" fmla="val 1860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596128" y="3602736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20" name="Image 2" descr="/home/rayhanyovi/Documents/Projects/storybook/deck/icons/ey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3721608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181344" y="3493008"/>
            <a:ext cx="528797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Tells you what they love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4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Themes, characters, bedtime vs. adventure — the pattern says what's resonating right now.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394960" y="4315968"/>
            <a:ext cx="6248095" cy="786384"/>
          </a:xfrm>
          <a:prstGeom prst="roundRect">
            <a:avLst>
              <a:gd name="adj" fmla="val 1860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596128" y="4480560"/>
            <a:ext cx="457200" cy="457200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24" name="Image 3" descr="/home/rayhanyovi/Documents/Projects/storybook/deck/icons/handHeart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459943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81344" y="4370832"/>
            <a:ext cx="528797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 conversation starter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4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“You really love the star story, huh?” — a small prompt to connect over what they're reading.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394960" y="5193792"/>
            <a:ext cx="6248095" cy="786384"/>
          </a:xfrm>
          <a:prstGeom prst="roundRect">
            <a:avLst>
              <a:gd name="adj" fmla="val 18605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5596128" y="5358384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28" name="Image 4" descr="/home/rayhanyovi/Documents/Projects/storybook/deck/icons/feather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5477256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181344" y="5248656"/>
            <a:ext cx="528797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Quiet by design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4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Surfaced gently inside parent mode — no charts, no streaks, no pressure on the child.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Features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 screen-time limit the child accepts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29768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947672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The parent sets the cap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478024"/>
            <a:ext cx="4480560" cy="1005840"/>
          </a:xfrm>
          <a:prstGeom prst="roundRect">
            <a:avLst>
              <a:gd name="adj" fmla="val 14545"/>
            </a:avLst>
          </a:prstGeom>
          <a:solidFill>
            <a:srgbClr val="FBF3E7"/>
          </a:solidFill>
          <a:ln w="12700">
            <a:solidFill>
              <a:srgbClr val="ECE0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752344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9" name="Image 0" descr="/home/rayhanyovi/Documents/Projects/storybook/deck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2871216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72768" y="264261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Behind the PIN gate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005840" y="302666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limit lives in parent mode — a child can't change or remove it.</a:t>
            </a:r>
            <a:endParaRPr lang="en-US" sz="1060" dirty="0"/>
          </a:p>
        </p:txBody>
      </p:sp>
      <p:sp>
        <p:nvSpPr>
          <p:cNvPr id="12" name="Shape 9"/>
          <p:cNvSpPr/>
          <p:nvPr/>
        </p:nvSpPr>
        <p:spPr>
          <a:xfrm>
            <a:off x="822960" y="3593592"/>
            <a:ext cx="4480560" cy="1005840"/>
          </a:xfrm>
          <a:prstGeom prst="roundRect">
            <a:avLst>
              <a:gd name="adj" fmla="val 14545"/>
            </a:avLst>
          </a:prstGeom>
          <a:solidFill>
            <a:srgbClr val="FBF3E7"/>
          </a:solidFill>
          <a:ln w="12700">
            <a:solidFill>
              <a:srgbClr val="ECE0C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3867912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4" name="Image 1" descr="/home/rayhanyovi/Documents/Projects/storybook/deck/icons/cloc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398678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72768" y="375818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Pick a duration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1005840" y="414223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15 · 30 · 60 minutes, chosen as the tablet is handed over.</a:t>
            </a:r>
            <a:endParaRPr lang="en-US" sz="1060" dirty="0"/>
          </a:p>
        </p:txBody>
      </p:sp>
      <p:sp>
        <p:nvSpPr>
          <p:cNvPr id="17" name="Shape 13"/>
          <p:cNvSpPr/>
          <p:nvPr/>
        </p:nvSpPr>
        <p:spPr>
          <a:xfrm>
            <a:off x="822960" y="4709160"/>
            <a:ext cx="4480560" cy="1005840"/>
          </a:xfrm>
          <a:prstGeom prst="roundRect">
            <a:avLst>
              <a:gd name="adj" fmla="val 14545"/>
            </a:avLst>
          </a:prstGeom>
          <a:solidFill>
            <a:srgbClr val="FBF3E7"/>
          </a:solidFill>
          <a:ln w="12700">
            <a:solidFill>
              <a:srgbClr val="ECE0C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05840" y="4983480"/>
            <a:ext cx="457200" cy="457200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19" name="Image 2" descr="/home/rayhanyovi/Documents/Projects/storybook/deck/icons/chil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5102352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72768" y="487375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Hand it over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05840" y="525780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Kid mode starts the clock silently in the background.</a:t>
            </a:r>
            <a:endParaRPr lang="en-US" sz="1060" dirty="0"/>
          </a:p>
        </p:txBody>
      </p:sp>
      <p:sp>
        <p:nvSpPr>
          <p:cNvPr id="22" name="Shape 17"/>
          <p:cNvSpPr/>
          <p:nvPr/>
        </p:nvSpPr>
        <p:spPr>
          <a:xfrm>
            <a:off x="5943600" y="1691640"/>
            <a:ext cx="5699455" cy="4297680"/>
          </a:xfrm>
          <a:prstGeom prst="roundRect">
            <a:avLst>
              <a:gd name="adj" fmla="val 3404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263640" y="1965960"/>
            <a:ext cx="1797893" cy="310896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/>
        </p:spPr>
      </p:sp>
      <p:sp>
        <p:nvSpPr>
          <p:cNvPr id="24" name="Text 19"/>
          <p:cNvSpPr/>
          <p:nvPr/>
        </p:nvSpPr>
        <p:spPr>
          <a:xfrm>
            <a:off x="6263640" y="1965960"/>
            <a:ext cx="179789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TIME'S UP</a:t>
            </a:r>
            <a:endParaRPr lang="en-US" sz="1100" dirty="0"/>
          </a:p>
        </p:txBody>
      </p:sp>
      <p:pic>
        <p:nvPicPr>
          <p:cNvPr id="25" name="Image 3" descr="/home/rayhanyovi/Documents/Projects/storybook/deck/assets/n1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7448" y="2560320"/>
            <a:ext cx="2474421" cy="19202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263640" y="4526280"/>
            <a:ext cx="5059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"Oyen's getting sleepy… let's rest now."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6492240" y="5212080"/>
            <a:ext cx="46936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countdown numbers in front of the child</a:t>
            </a:r>
            <a:endParaRPr lang="en-US" sz="1100" dirty="0"/>
          </a:p>
          <a:p>
            <a:pPr marL="177800" indent="-1778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Finish the current page first — never cut mid-story</a:t>
            </a:r>
            <a:endParaRPr lang="en-US" sz="1100" dirty="0"/>
          </a:p>
          <a:p>
            <a:pPr marL="177800" indent="-1778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Oyen winds down; the session just ends softly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Features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279886" cy="310896"/>
          </a:xfrm>
          <a:prstGeom prst="roundRect">
            <a:avLst>
              <a:gd name="adj" fmla="val 50000"/>
            </a:avLst>
          </a:prstGeom>
          <a:solidFill>
            <a:srgbClr val="4CB9E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2798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 pnpm monorepo with shared contracts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3200400" cy="2194560"/>
          </a:xfrm>
          <a:prstGeom prst="roundRect">
            <a:avLst>
              <a:gd name="adj" fmla="val 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3200400" cy="841248"/>
          </a:xfrm>
          <a:prstGeom prst="roundRect">
            <a:avLst>
              <a:gd name="adj" fmla="val 17391"/>
            </a:avLst>
          </a:prstGeom>
          <a:solidFill>
            <a:srgbClr val="2EC4B6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432304"/>
            <a:ext cx="3200400" cy="420624"/>
          </a:xfrm>
          <a:prstGeom prst="rectangle">
            <a:avLst/>
          </a:prstGeom>
          <a:solidFill>
            <a:srgbClr val="2EC4B6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221284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/home/rayhanyovi/Documents/Projects/storybook/deck/icons/react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33172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9344" y="22128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apps/web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33856" y="2980944"/>
            <a:ext cx="25786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React 19 + Vite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TanStack Query v5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Tailwind v4 · shadcn/ui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Framer Motion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74920" y="2011680"/>
            <a:ext cx="3200400" cy="2194560"/>
          </a:xfrm>
          <a:prstGeom prst="roundRect">
            <a:avLst>
              <a:gd name="adj" fmla="val 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74920" y="2011680"/>
            <a:ext cx="3200400" cy="841248"/>
          </a:xfrm>
          <a:prstGeom prst="roundRect">
            <a:avLst>
              <a:gd name="adj" fmla="val 17391"/>
            </a:avLst>
          </a:prstGeom>
          <a:solidFill>
            <a:srgbClr val="FF7B54"/>
          </a:solidFill>
          <a:ln/>
        </p:spPr>
      </p:sp>
      <p:sp>
        <p:nvSpPr>
          <p:cNvPr id="14" name="Shape 11"/>
          <p:cNvSpPr/>
          <p:nvPr/>
        </p:nvSpPr>
        <p:spPr>
          <a:xfrm>
            <a:off x="5074920" y="2432304"/>
            <a:ext cx="3200400" cy="420624"/>
          </a:xfrm>
          <a:prstGeom prst="rectangle">
            <a:avLst/>
          </a:prstGeom>
          <a:solidFill>
            <a:srgbClr val="FF7B54"/>
          </a:solidFill>
          <a:ln/>
        </p:spPr>
      </p:sp>
      <p:sp>
        <p:nvSpPr>
          <p:cNvPr id="15" name="Shape 12"/>
          <p:cNvSpPr/>
          <p:nvPr/>
        </p:nvSpPr>
        <p:spPr>
          <a:xfrm>
            <a:off x="5312664" y="221284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/home/rayhanyovi/Documents/Projects/storybook/deck/icons/server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331720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861304" y="22128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apps/api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5385816" y="2980944"/>
            <a:ext cx="25786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Express 5 + TypeScript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Prisma → PostgreSQL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JWT + bcrypt · Zod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Vitest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2720340" y="4709160"/>
            <a:ext cx="3657600" cy="1554480"/>
          </a:xfrm>
          <a:prstGeom prst="roundRect">
            <a:avLst>
              <a:gd name="adj" fmla="val 94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2720340" y="4709160"/>
            <a:ext cx="3657600" cy="841248"/>
          </a:xfrm>
          <a:prstGeom prst="roundRect">
            <a:avLst>
              <a:gd name="adj" fmla="val 17391"/>
            </a:avLst>
          </a:prstGeom>
          <a:solidFill>
            <a:srgbClr val="A78BFA"/>
          </a:solidFill>
          <a:ln/>
        </p:spPr>
      </p:sp>
      <p:sp>
        <p:nvSpPr>
          <p:cNvPr id="21" name="Shape 17"/>
          <p:cNvSpPr/>
          <p:nvPr/>
        </p:nvSpPr>
        <p:spPr>
          <a:xfrm>
            <a:off x="2720340" y="5129784"/>
            <a:ext cx="3657600" cy="420624"/>
          </a:xfrm>
          <a:prstGeom prst="rectangle">
            <a:avLst/>
          </a:prstGeom>
          <a:solidFill>
            <a:srgbClr val="A78BFA"/>
          </a:solidFill>
          <a:ln/>
        </p:spPr>
      </p:sp>
      <p:sp>
        <p:nvSpPr>
          <p:cNvPr id="22" name="Shape 18"/>
          <p:cNvSpPr/>
          <p:nvPr/>
        </p:nvSpPr>
        <p:spPr>
          <a:xfrm>
            <a:off x="2958084" y="49103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2" descr="/home/rayhanyovi/Documents/Projects/storybook/deck/icons/cube_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956" y="5029200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3506724" y="491032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packages/shared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3031236" y="5678424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TypeScript DTOs &amp; contracts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BookWithAccess · AccessResult · UserDTO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4023360" y="251460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HTTP / JSON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4023360" y="3108960"/>
            <a:ext cx="1051560" cy="0"/>
          </a:xfrm>
          <a:prstGeom prst="line">
            <a:avLst/>
          </a:prstGeom>
          <a:noFill/>
          <a:ln w="22225">
            <a:solidFill>
              <a:srgbClr val="8A7A6D"/>
            </a:solidFill>
            <a:prstDash val="solid"/>
            <a:headEnd type="triangle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3817620" y="4709160"/>
            <a:ext cx="0" cy="-502920"/>
          </a:xfrm>
          <a:prstGeom prst="line">
            <a:avLst/>
          </a:prstGeom>
          <a:noFill/>
          <a:ln w="22225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5280660" y="4709160"/>
            <a:ext cx="0" cy="-502920"/>
          </a:xfrm>
          <a:prstGeom prst="line">
            <a:avLst/>
          </a:prstGeom>
          <a:noFill/>
          <a:ln w="22225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30" name="Text 25"/>
          <p:cNvSpPr/>
          <p:nvPr/>
        </p:nvSpPr>
        <p:spPr>
          <a:xfrm>
            <a:off x="6560820" y="50292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imported by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web + api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8915400" y="2011680"/>
            <a:ext cx="2727655" cy="4114800"/>
          </a:xfrm>
          <a:prstGeom prst="roundRect">
            <a:avLst>
              <a:gd name="adj" fmla="val 5364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32" name="Text 27"/>
          <p:cNvSpPr/>
          <p:nvPr/>
        </p:nvSpPr>
        <p:spPr>
          <a:xfrm>
            <a:off x="8915400" y="2286000"/>
            <a:ext cx="2727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16</a:t>
            </a:r>
            <a:endParaRPr lang="en-US" sz="5400" dirty="0"/>
          </a:p>
        </p:txBody>
      </p:sp>
      <p:sp>
        <p:nvSpPr>
          <p:cNvPr id="33" name="Text 28"/>
          <p:cNvSpPr/>
          <p:nvPr/>
        </p:nvSpPr>
        <p:spPr>
          <a:xfrm>
            <a:off x="8915400" y="3154680"/>
            <a:ext cx="2727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REST endpoints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9052560" y="3749040"/>
            <a:ext cx="2453335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Auth · books · content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payments · library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categories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Role-gated, Zod-validated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Technical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279886" cy="310896"/>
          </a:xfrm>
          <a:prstGeom prst="roundRect">
            <a:avLst>
              <a:gd name="adj" fmla="val 50000"/>
            </a:avLst>
          </a:prstGeom>
          <a:solidFill>
            <a:srgbClr val="4CB9E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2798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One function, strict priority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663440" cy="658368"/>
          </a:xfrm>
          <a:prstGeom prst="roundRect">
            <a:avLst>
              <a:gd name="adj" fmla="val 180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1819656"/>
            <a:ext cx="402336" cy="402336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7" name="Image 0" descr="/home/rayhanyovi/Documents/Projects/storybook/deck/icons/user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598" y="1932310"/>
            <a:ext cx="177028" cy="1770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74650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ADMIN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880360" y="1746504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Always full access — before any DB check</a:t>
            </a:r>
            <a:endParaRPr lang="en-US" sz="1030" dirty="0"/>
          </a:p>
        </p:txBody>
      </p:sp>
      <p:sp>
        <p:nvSpPr>
          <p:cNvPr id="10" name="Text 7"/>
          <p:cNvSpPr/>
          <p:nvPr/>
        </p:nvSpPr>
        <p:spPr>
          <a:xfrm>
            <a:off x="932688" y="230428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CE0CE"/>
                </a:solidFill>
              </a:rPr>
              <a:t>▼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48640" y="2459736"/>
            <a:ext cx="4663440" cy="658368"/>
          </a:xfrm>
          <a:prstGeom prst="roundRect">
            <a:avLst>
              <a:gd name="adj" fmla="val 180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94944" y="2587752"/>
            <a:ext cx="402336" cy="402336"/>
          </a:xfrm>
          <a:prstGeom prst="ellipse">
            <a:avLst/>
          </a:prstGeom>
          <a:solidFill>
            <a:srgbClr val="7BC950"/>
          </a:solidFill>
          <a:ln/>
        </p:spPr>
      </p:sp>
      <p:pic>
        <p:nvPicPr>
          <p:cNvPr id="13" name="Image 1" descr="/home/rayhanyovi/Documents/Projects/storybook/deck/icons/gif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98" y="2700406"/>
            <a:ext cx="177028" cy="1770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FREE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880360" y="251460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priceCents === 0 → always readable</a:t>
            </a:r>
            <a:endParaRPr lang="en-US" sz="1030" dirty="0"/>
          </a:p>
        </p:txBody>
      </p:sp>
      <p:sp>
        <p:nvSpPr>
          <p:cNvPr id="16" name="Text 12"/>
          <p:cNvSpPr/>
          <p:nvPr/>
        </p:nvSpPr>
        <p:spPr>
          <a:xfrm>
            <a:off x="932688" y="307238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CE0CE"/>
                </a:solidFill>
              </a:rPr>
              <a:t>▼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548640" y="3227832"/>
            <a:ext cx="4663440" cy="658368"/>
          </a:xfrm>
          <a:prstGeom prst="roundRect">
            <a:avLst>
              <a:gd name="adj" fmla="val 180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94944" y="3355848"/>
            <a:ext cx="402336" cy="402336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9" name="Image 2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598" y="3468502"/>
            <a:ext cx="177028" cy="17702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71600" y="3282696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OWNED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2880360" y="3282696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Has a Purchase record for this book</a:t>
            </a:r>
            <a:endParaRPr lang="en-US" sz="1030" dirty="0"/>
          </a:p>
        </p:txBody>
      </p:sp>
      <p:sp>
        <p:nvSpPr>
          <p:cNvPr id="22" name="Text 17"/>
          <p:cNvSpPr/>
          <p:nvPr/>
        </p:nvSpPr>
        <p:spPr>
          <a:xfrm>
            <a:off x="932688" y="384048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CE0CE"/>
                </a:solidFill>
              </a:rPr>
              <a:t>▼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548640" y="3995928"/>
            <a:ext cx="4663440" cy="658368"/>
          </a:xfrm>
          <a:prstGeom prst="roundRect">
            <a:avLst>
              <a:gd name="adj" fmla="val 180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" y="4123944"/>
            <a:ext cx="402336" cy="402336"/>
          </a:xfrm>
          <a:prstGeom prst="ellipse">
            <a:avLst/>
          </a:prstGeom>
          <a:solidFill>
            <a:srgbClr val="4CB9E7"/>
          </a:solidFill>
          <a:ln/>
        </p:spPr>
      </p:sp>
      <p:pic>
        <p:nvPicPr>
          <p:cNvPr id="25" name="Image 3" descr="/home/rayhanyovi/Documents/Projects/storybook/deck/icons/sync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98" y="4236598"/>
            <a:ext cx="177028" cy="17702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371600" y="40507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SUBSCRIPTION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2880360" y="4050792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Active, non-expired subscription</a:t>
            </a:r>
            <a:endParaRPr lang="en-US" sz="1030" dirty="0"/>
          </a:p>
        </p:txBody>
      </p:sp>
      <p:sp>
        <p:nvSpPr>
          <p:cNvPr id="28" name="Text 22"/>
          <p:cNvSpPr/>
          <p:nvPr/>
        </p:nvSpPr>
        <p:spPr>
          <a:xfrm>
            <a:off x="932688" y="460857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CE0CE"/>
                </a:solidFill>
              </a:rPr>
              <a:t>▼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548640" y="4764024"/>
            <a:ext cx="4663440" cy="658368"/>
          </a:xfrm>
          <a:prstGeom prst="roundRect">
            <a:avLst>
              <a:gd name="adj" fmla="val 180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94944" y="4892040"/>
            <a:ext cx="402336" cy="402336"/>
          </a:xfrm>
          <a:prstGeom prst="ellipse">
            <a:avLst/>
          </a:prstGeom>
          <a:solidFill>
            <a:srgbClr val="8A7A6D"/>
          </a:solidFill>
          <a:ln/>
        </p:spPr>
      </p:sp>
      <p:pic>
        <p:nvPicPr>
          <p:cNvPr id="31" name="Image 4" descr="/home/rayhanyovi/Documents/Projects/storybook/deck/icons/lock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598" y="5004694"/>
            <a:ext cx="177028" cy="17702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371600" y="4818888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LOCKED</a:t>
            </a:r>
            <a:endParaRPr lang="en-US" sz="1500" dirty="0"/>
          </a:p>
        </p:txBody>
      </p:sp>
      <p:sp>
        <p:nvSpPr>
          <p:cNvPr id="33" name="Text 26"/>
          <p:cNvSpPr/>
          <p:nvPr/>
        </p:nvSpPr>
        <p:spPr>
          <a:xfrm>
            <a:off x="2880360" y="4818888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None of the above</a:t>
            </a:r>
            <a:endParaRPr lang="en-US" sz="1030" dirty="0"/>
          </a:p>
        </p:txBody>
      </p:sp>
      <p:sp>
        <p:nvSpPr>
          <p:cNvPr id="34" name="Shape 27"/>
          <p:cNvSpPr/>
          <p:nvPr/>
        </p:nvSpPr>
        <p:spPr>
          <a:xfrm>
            <a:off x="5623560" y="1691640"/>
            <a:ext cx="6019495" cy="3310128"/>
          </a:xfrm>
          <a:prstGeom prst="roundRect">
            <a:avLst>
              <a:gd name="adj" fmla="val 4420"/>
            </a:avLst>
          </a:prstGeom>
          <a:solidFill>
            <a:srgbClr val="2A211C"/>
          </a:solidFill>
          <a:ln/>
          <a:effectLst>
            <a:outerShdw sx="100000" sy="100000" kx="0" ky="0" algn="bl" rotWithShape="0" blurRad="114300" dist="38100" dir="5400000">
              <a:srgbClr val="3A2E28">
                <a:alpha val="16000"/>
              </a:srgbClr>
            </a:outerShdw>
          </a:effectLst>
        </p:spPr>
      </p:sp>
      <p:sp>
        <p:nvSpPr>
          <p:cNvPr id="35" name="Text 28"/>
          <p:cNvSpPr/>
          <p:nvPr/>
        </p:nvSpPr>
        <p:spPr>
          <a:xfrm>
            <a:off x="5897880" y="189280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access.service.ts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897880" y="2258568"/>
            <a:ext cx="547085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F8F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FC9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resolveAccess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(user, book) {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(user.role ===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BC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'ADMIN'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return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(book.priceCents ===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return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BC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(await ownsBook(...))     return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OWNED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(await hasActiveSub(...)) return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4CB9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LOCKED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pic>
        <p:nvPicPr>
          <p:cNvPr id="37" name="Image 5" descr="/home/rayhanyovi/Documents/Projects/storybook/deck/assets/n1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5148072"/>
            <a:ext cx="1001049" cy="109728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766560" y="5148072"/>
            <a:ext cx="4876495" cy="1051560"/>
          </a:xfrm>
          <a:prstGeom prst="roundRect">
            <a:avLst>
              <a:gd name="adj" fmla="val 13913"/>
            </a:avLst>
          </a:prstGeom>
          <a:solidFill>
            <a:srgbClr val="E6F4D8"/>
          </a:solidFill>
          <a:ln/>
        </p:spPr>
      </p:sp>
      <p:sp>
        <p:nvSpPr>
          <p:cNvPr id="39" name="Shape 31"/>
          <p:cNvSpPr/>
          <p:nvPr/>
        </p:nvSpPr>
        <p:spPr>
          <a:xfrm>
            <a:off x="6967728" y="5449824"/>
            <a:ext cx="457200" cy="457200"/>
          </a:xfrm>
          <a:prstGeom prst="ellipse">
            <a:avLst/>
          </a:prstGeom>
          <a:solidFill>
            <a:srgbClr val="58CC02"/>
          </a:solidFill>
          <a:ln/>
        </p:spPr>
      </p:sp>
      <p:pic>
        <p:nvPicPr>
          <p:cNvPr id="40" name="Image 6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5568696"/>
            <a:ext cx="219456" cy="219456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7552944" y="5148072"/>
            <a:ext cx="391637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Verified by unit test.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OWNED short-circuits before SUBSCRIPTION — the subscription query never runs when a book is owned. 8 cases, all passing.</a:t>
            </a:r>
            <a:endParaRPr lang="en-US" sz="1250" dirty="0"/>
          </a:p>
        </p:txBody>
      </p:sp>
      <p:sp>
        <p:nvSpPr>
          <p:cNvPr id="42" name="Shape 33"/>
          <p:cNvSpPr/>
          <p:nvPr/>
        </p:nvSpPr>
        <p:spPr>
          <a:xfrm>
            <a:off x="548640" y="5623560"/>
            <a:ext cx="4663440" cy="566928"/>
          </a:xfrm>
          <a:prstGeom prst="roundRect">
            <a:avLst>
              <a:gd name="adj" fmla="val 25806"/>
            </a:avLst>
          </a:prstGeom>
          <a:solidFill>
            <a:srgbClr val="F3E9D8"/>
          </a:solidFill>
          <a:ln/>
        </p:spPr>
      </p:sp>
      <p:sp>
        <p:nvSpPr>
          <p:cNvPr id="43" name="Shape 34"/>
          <p:cNvSpPr/>
          <p:nvPr/>
        </p:nvSpPr>
        <p:spPr>
          <a:xfrm>
            <a:off x="713232" y="5724144"/>
            <a:ext cx="365760" cy="36576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44" name="Image 7" descr="/home/rayhanyovi/Documents/Projects/storybook/deck/icons/shield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8330" y="5819242"/>
            <a:ext cx="175565" cy="175565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1225296" y="5623560"/>
            <a:ext cx="382219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Frontend mirrors it in two layers — route guards + a component-level PIN gate.</a:t>
            </a:r>
            <a:endParaRPr lang="en-US" sz="1100" dirty="0"/>
          </a:p>
        </p:txBody>
      </p:sp>
      <p:sp>
        <p:nvSpPr>
          <p:cNvPr id="46" name="Text 36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Technical</a:t>
            </a:r>
            <a:endParaRPr lang="en-US" sz="900" dirty="0"/>
          </a:p>
        </p:txBody>
      </p:sp>
      <p:sp>
        <p:nvSpPr>
          <p:cNvPr id="47" name="Text 37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279886" cy="310896"/>
          </a:xfrm>
          <a:prstGeom prst="roundRect">
            <a:avLst>
              <a:gd name="adj" fmla="val 50000"/>
            </a:avLst>
          </a:prstGeom>
          <a:solidFill>
            <a:srgbClr val="4CB9E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2798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Entities, and the decisions behind them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943600" cy="429768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148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FF7B54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214884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FF7B54"/>
          </a:solidFill>
          <a:ln/>
        </p:spPr>
      </p:sp>
      <p:sp>
        <p:nvSpPr>
          <p:cNvPr id="8" name="Text 6"/>
          <p:cNvSpPr/>
          <p:nvPr/>
        </p:nvSpPr>
        <p:spPr>
          <a:xfrm>
            <a:off x="1307592" y="225856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User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307592" y="262432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 · onboarding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148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2EC4B6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14884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2EC4B6"/>
          </a:solidFill>
          <a:ln/>
        </p:spPr>
      </p:sp>
      <p:sp>
        <p:nvSpPr>
          <p:cNvPr id="12" name="Text 10"/>
          <p:cNvSpPr/>
          <p:nvPr/>
        </p:nvSpPr>
        <p:spPr>
          <a:xfrm>
            <a:off x="4187952" y="225856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Book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187952" y="262432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· priceCents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51560" y="33832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4CB9E7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51560" y="338328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4CB9E7"/>
          </a:solidFill>
          <a:ln/>
        </p:spPr>
      </p:sp>
      <p:sp>
        <p:nvSpPr>
          <p:cNvPr id="16" name="Text 14"/>
          <p:cNvSpPr/>
          <p:nvPr/>
        </p:nvSpPr>
        <p:spPr>
          <a:xfrm>
            <a:off x="1307592" y="349300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Subscription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307592" y="385876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 · expiresAt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931920" y="33832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A78BFA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931920" y="338328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A78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187952" y="349300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Purchase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187952" y="385876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@@unique userId+bookId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51560" y="46177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FFC93C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51560" y="461772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FFC93C"/>
          </a:solidFill>
          <a:ln/>
        </p:spPr>
      </p:sp>
      <p:sp>
        <p:nvSpPr>
          <p:cNvPr id="24" name="Text 22"/>
          <p:cNvSpPr/>
          <p:nvPr/>
        </p:nvSpPr>
        <p:spPr>
          <a:xfrm>
            <a:off x="1307592" y="47274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Payment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307592" y="509320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idempotencyKey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931920" y="46177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7BC950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931920" y="461772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7BC950"/>
          </a:solidFill>
          <a:ln/>
        </p:spPr>
      </p:sp>
      <p:sp>
        <p:nvSpPr>
          <p:cNvPr id="28" name="Text 26"/>
          <p:cNvSpPr/>
          <p:nvPr/>
        </p:nvSpPr>
        <p:spPr>
          <a:xfrm>
            <a:off x="4187952" y="47274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BookPage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187952" y="509320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@@unique bookId+index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520440" y="2148840"/>
            <a:ext cx="411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1:N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858000" y="1691640"/>
            <a:ext cx="47850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Design decisions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858000" y="2148840"/>
            <a:ext cx="4785055" cy="877824"/>
          </a:xfrm>
          <a:prstGeom prst="roundRect">
            <a:avLst>
              <a:gd name="adj" fmla="val 1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059168" y="2359152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34" name="Image 0" descr="/home/rayhanyovi/Documents/Projects/storybook/deck/icons/t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478024"/>
            <a:ext cx="219456" cy="219456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7662672" y="2221992"/>
            <a:ext cx="38249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pricePaidCents snapshot</a:t>
            </a:r>
            <a:endParaRPr lang="en-US" sz="12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Purchase records the price paid — independent of later price changes.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858000" y="3118104"/>
            <a:ext cx="4785055" cy="877824"/>
          </a:xfrm>
          <a:prstGeom prst="roundRect">
            <a:avLst>
              <a:gd name="adj" fmla="val 1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059168" y="3328416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8" name="Image 1" descr="/home/rayhanyovi/Documents/Projects/storybook/deck/icons/fingerprin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3447288"/>
            <a:ext cx="219456" cy="219456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7662672" y="3191256"/>
            <a:ext cx="38249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idempotencyKey on Payment</a:t>
            </a:r>
            <a:endParaRPr lang="en-US" sz="12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retried request can never double-charge.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6858000" y="4087368"/>
            <a:ext cx="4785055" cy="877824"/>
          </a:xfrm>
          <a:prstGeom prst="roundRect">
            <a:avLst>
              <a:gd name="adj" fmla="val 1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7059168" y="4297680"/>
            <a:ext cx="457200" cy="457200"/>
          </a:xfrm>
          <a:prstGeom prst="ellipse">
            <a:avLst/>
          </a:prstGeom>
          <a:solidFill>
            <a:srgbClr val="4CB9E7"/>
          </a:solidFill>
          <a:ln/>
        </p:spPr>
      </p:sp>
      <p:pic>
        <p:nvPicPr>
          <p:cNvPr id="42" name="Image 2" descr="/home/rayhanyovi/Documents/Projects/storybook/deck/icons/clo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4416552"/>
            <a:ext cx="219456" cy="219456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7662672" y="4160520"/>
            <a:ext cx="38249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expiresAt &gt; NOW() server-side</a:t>
            </a:r>
            <a:endParaRPr lang="en-US" sz="12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server never trusts client-held subscription state.</a:t>
            </a:r>
            <a:endParaRPr lang="en-US" sz="1250" dirty="0"/>
          </a:p>
        </p:txBody>
      </p:sp>
      <p:sp>
        <p:nvSpPr>
          <p:cNvPr id="44" name="Shape 39"/>
          <p:cNvSpPr/>
          <p:nvPr/>
        </p:nvSpPr>
        <p:spPr>
          <a:xfrm>
            <a:off x="6858000" y="5056632"/>
            <a:ext cx="4785055" cy="877824"/>
          </a:xfrm>
          <a:prstGeom prst="roundRect">
            <a:avLst>
              <a:gd name="adj" fmla="val 1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45" name="Shape 40"/>
          <p:cNvSpPr/>
          <p:nvPr/>
        </p:nvSpPr>
        <p:spPr>
          <a:xfrm>
            <a:off x="7059168" y="5266944"/>
            <a:ext cx="457200" cy="457200"/>
          </a:xfrm>
          <a:prstGeom prst="ellipse">
            <a:avLst/>
          </a:prstGeom>
          <a:solidFill>
            <a:srgbClr val="7BC950"/>
          </a:solidFill>
          <a:ln/>
        </p:spPr>
      </p:sp>
      <p:pic>
        <p:nvPicPr>
          <p:cNvPr id="46" name="Image 3" descr="/home/rayhanyovi/Documents/Projects/storybook/deck/icons/hourglas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5385816"/>
            <a:ext cx="219456" cy="219456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662672" y="5129784"/>
            <a:ext cx="38249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ARCHIVED soft-delete</a:t>
            </a:r>
            <a:endParaRPr lang="en-US" sz="12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Books are archived, never destroyed — ownership history survives.</a:t>
            </a:r>
            <a:endParaRPr lang="en-US" sz="1250" dirty="0"/>
          </a:p>
        </p:txBody>
      </p:sp>
      <p:sp>
        <p:nvSpPr>
          <p:cNvPr id="48" name="Text 4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Technical</a:t>
            </a:r>
            <a:endParaRPr lang="en-US" sz="900" dirty="0"/>
          </a:p>
        </p:txBody>
      </p:sp>
      <p:sp>
        <p:nvSpPr>
          <p:cNvPr id="49" name="Text 43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279886" cy="310896"/>
          </a:xfrm>
          <a:prstGeom prst="roundRect">
            <a:avLst>
              <a:gd name="adj" fmla="val 50000"/>
            </a:avLst>
          </a:prstGeom>
          <a:solidFill>
            <a:srgbClr val="4CB9E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2798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What I cut — and why it's the right cut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856232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7" name="Image 0" descr="/home/rayhanyovi/Documents/Projects/storybook/deck/icons/lo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7510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35024" y="1737360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Mocked payments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Real Midtrans/Stripe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Proves access &amp; commerce flows without provider onboarding.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33008" y="1664208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34176" y="1856232"/>
            <a:ext cx="457200" cy="457200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11" name="Image 1" descr="/home/rayhanyovi/Documents/Projects/storybook/deck/icons/fingerprin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197510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19392" y="1737360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Client-side PIN (demo)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Hashed server PIN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Scoped for the demo; production moves it server-side.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651760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2843784"/>
            <a:ext cx="457200" cy="457200"/>
          </a:xfrm>
          <a:prstGeom prst="ellipse">
            <a:avLst/>
          </a:prstGeom>
          <a:solidFill>
            <a:srgbClr val="4CB9E7"/>
          </a:solidFill>
          <a:ln/>
        </p:spPr>
      </p:sp>
      <p:pic>
        <p:nvPicPr>
          <p:cNvPr id="15" name="Image 2" descr="/home/rayhanyovi/Documents/Projects/storybook/deck/icons/sync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96265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35024" y="2724912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DB check per API call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Cache sub in JWT claims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Accuracy over speed — sub status can change any moment.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651760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434176" y="2843784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9" name="Image 3" descr="/home/rayhanyovi/Documents/Projects/storybook/deck/icons/robot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8" y="2962656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019392" y="2724912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Browser TTS voice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Recorded human VO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Read-aloud ships now via speech synthesis; studio narration + word-highlighting later.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639312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49808" y="3831336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23" name="Image 4" descr="/home/rayhanyovi/Documents/Projects/storybook/deck/icons/users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50208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335024" y="3712464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Single-child assumption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Multi-child profiles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 for a first cohort; child-switching adds real UX cost.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233008" y="3639312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34176" y="3831336"/>
            <a:ext cx="457200" cy="457200"/>
          </a:xfrm>
          <a:prstGeom prst="ellipse">
            <a:avLst/>
          </a:prstGeom>
          <a:solidFill>
            <a:srgbClr val="7BC950"/>
          </a:solidFill>
          <a:ln/>
        </p:spPr>
      </p:sp>
      <p:pic>
        <p:nvPicPr>
          <p:cNvPr id="27" name="Image 5" descr="/home/rayhanyovi/Documents/Projects/storybook/deck/icons/bolt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048" y="3950208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19392" y="3712464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Filter, not search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Full search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Category + age covers discovery at 8-book scale.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Technical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279886" cy="310896"/>
          </a:xfrm>
          <a:prstGeom prst="roundRect">
            <a:avLst>
              <a:gd name="adj" fmla="val 50000"/>
            </a:avLst>
          </a:prstGeom>
          <a:solidFill>
            <a:srgbClr val="4CB9E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2798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Honest about what's a demo shortcut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64328" cy="694944"/>
          </a:xfrm>
          <a:prstGeom prst="roundRect">
            <a:avLst>
              <a:gd name="adj" fmla="val 18421"/>
            </a:avLst>
          </a:prstGeom>
          <a:solidFill>
            <a:srgbClr val="F3E9D8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01952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7" name="Image 0" descr="/home/rayhanyovi/Documents/Projects/storybook/deck/icons/flask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2082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16736" y="1783080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In this demo   </a:t>
            </a:r>
            <a:pPr algn="l"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Built to prove the product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78728" y="1783080"/>
            <a:ext cx="5364328" cy="694944"/>
          </a:xfrm>
          <a:prstGeom prst="roundRect">
            <a:avLst>
              <a:gd name="adj" fmla="val 18421"/>
            </a:avLst>
          </a:prstGeom>
          <a:solidFill>
            <a:srgbClr val="3A2E28"/>
          </a:solidFill>
          <a:ln/>
        </p:spPr>
      </p:sp>
      <p:sp>
        <p:nvSpPr>
          <p:cNvPr id="10" name="Shape 7"/>
          <p:cNvSpPr/>
          <p:nvPr/>
        </p:nvSpPr>
        <p:spPr>
          <a:xfrm>
            <a:off x="6479896" y="1901952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1" name="Image 1" descr="/home/rayhanyovi/Documents/Projects/storybook/deck/icons/rocke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768" y="202082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46824" y="1783080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In production   </a:t>
            </a:r>
            <a:pPr algn="l" indent="0" marL="0">
              <a:buNone/>
            </a:pPr>
            <a:r>
              <a:rPr lang="en-US" sz="1000" i="1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 ships for real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48640" y="2642616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2761488"/>
            <a:ext cx="329184" cy="329184"/>
          </a:xfrm>
          <a:prstGeom prst="ellipse">
            <a:avLst/>
          </a:prstGeom>
          <a:solidFill>
            <a:srgbClr val="8A7A6D"/>
          </a:solidFill>
          <a:ln/>
        </p:spPr>
      </p:sp>
      <p:pic>
        <p:nvPicPr>
          <p:cNvPr id="15" name="Image 2" descr="/home/rayhanyovi/Documents/Projects/storybook/deck/icons/napki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524" y="2840492"/>
            <a:ext cx="171176" cy="1711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70432" y="2642616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Mocked payment — instant success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278728" y="2642616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D9F3EF"/>
          </a:solidFill>
          <a:ln/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461608" y="2761488"/>
            <a:ext cx="329184" cy="329184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9" name="Image 3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612" y="2840492"/>
            <a:ext cx="171176" cy="17117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900520" y="2642616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Real gateway, webhooks, retries &amp; refunds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5912968" y="2642616"/>
            <a:ext cx="365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548640" y="3246120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31520" y="3364992"/>
            <a:ext cx="329184" cy="329184"/>
          </a:xfrm>
          <a:prstGeom prst="ellipse">
            <a:avLst/>
          </a:prstGeom>
          <a:solidFill>
            <a:srgbClr val="8A7A6D"/>
          </a:solidFill>
          <a:ln/>
        </p:spPr>
      </p:sp>
      <p:pic>
        <p:nvPicPr>
          <p:cNvPr id="24" name="Image 4" descr="/home/rayhanyovi/Documents/Projects/storybook/deck/icons/napki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524" y="3443996"/>
            <a:ext cx="171176" cy="1711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70432" y="3246120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PIN checked on the client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278728" y="3246120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D9F3EF"/>
          </a:solidFill>
          <a:ln/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461608" y="3364992"/>
            <a:ext cx="329184" cy="329184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28" name="Image 5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612" y="3443996"/>
            <a:ext cx="171176" cy="17117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00520" y="3246120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Hashed PIN verified server-side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5912968" y="3246120"/>
            <a:ext cx="365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3"/>
          <p:cNvSpPr/>
          <p:nvPr/>
        </p:nvSpPr>
        <p:spPr>
          <a:xfrm>
            <a:off x="548640" y="3849624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731520" y="3968496"/>
            <a:ext cx="329184" cy="329184"/>
          </a:xfrm>
          <a:prstGeom prst="ellipse">
            <a:avLst/>
          </a:prstGeom>
          <a:solidFill>
            <a:srgbClr val="8A7A6D"/>
          </a:solidFill>
          <a:ln/>
        </p:spPr>
      </p:sp>
      <p:pic>
        <p:nvPicPr>
          <p:cNvPr id="33" name="Image 6" descr="/home/rayhanyovi/Documents/Projects/storybook/deck/icons/napkin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524" y="4047500"/>
            <a:ext cx="171176" cy="17117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170432" y="3849624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Seeded catalog of 6 books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6278728" y="3849624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D9F3EF"/>
          </a:solidFill>
          <a:ln/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6461608" y="3968496"/>
            <a:ext cx="329184" cy="329184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37" name="Image 7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0612" y="4047500"/>
            <a:ext cx="171176" cy="171176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6900520" y="3849624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Full publishing pipeline + real illustrations</a:t>
            </a:r>
            <a:endParaRPr lang="en-US" sz="1100" dirty="0"/>
          </a:p>
        </p:txBody>
      </p:sp>
      <p:sp>
        <p:nvSpPr>
          <p:cNvPr id="39" name="Text 29"/>
          <p:cNvSpPr/>
          <p:nvPr/>
        </p:nvSpPr>
        <p:spPr>
          <a:xfrm>
            <a:off x="5912968" y="3849624"/>
            <a:ext cx="365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Shape 30"/>
          <p:cNvSpPr/>
          <p:nvPr/>
        </p:nvSpPr>
        <p:spPr>
          <a:xfrm>
            <a:off x="548640" y="4453128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41" name="Shape 31"/>
          <p:cNvSpPr/>
          <p:nvPr/>
        </p:nvSpPr>
        <p:spPr>
          <a:xfrm>
            <a:off x="731520" y="4572000"/>
            <a:ext cx="329184" cy="329184"/>
          </a:xfrm>
          <a:prstGeom prst="ellipse">
            <a:avLst/>
          </a:prstGeom>
          <a:solidFill>
            <a:srgbClr val="8A7A6D"/>
          </a:solidFill>
          <a:ln/>
        </p:spPr>
      </p:sp>
      <p:pic>
        <p:nvPicPr>
          <p:cNvPr id="42" name="Image 8" descr="/home/rayhanyovi/Documents/Projects/storybook/deck/icons/napkin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524" y="4651004"/>
            <a:ext cx="171176" cy="171176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1170432" y="4453128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Read-aloud via browser TTS</a:t>
            </a:r>
            <a:endParaRPr lang="en-US" sz="1100" dirty="0"/>
          </a:p>
        </p:txBody>
      </p:sp>
      <p:sp>
        <p:nvSpPr>
          <p:cNvPr id="44" name="Shape 33"/>
          <p:cNvSpPr/>
          <p:nvPr/>
        </p:nvSpPr>
        <p:spPr>
          <a:xfrm>
            <a:off x="6278728" y="4453128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D9F3EF"/>
          </a:solidFill>
          <a:ln/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45" name="Shape 34"/>
          <p:cNvSpPr/>
          <p:nvPr/>
        </p:nvSpPr>
        <p:spPr>
          <a:xfrm>
            <a:off x="6461608" y="4572000"/>
            <a:ext cx="329184" cy="329184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46" name="Image 9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40612" y="4651004"/>
            <a:ext cx="171176" cy="171176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6900520" y="4453128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Studio-recorded narration + word highlighting</a:t>
            </a:r>
            <a:endParaRPr lang="en-US" sz="1100" dirty="0"/>
          </a:p>
        </p:txBody>
      </p:sp>
      <p:sp>
        <p:nvSpPr>
          <p:cNvPr id="48" name="Text 36"/>
          <p:cNvSpPr/>
          <p:nvPr/>
        </p:nvSpPr>
        <p:spPr>
          <a:xfrm>
            <a:off x="5912968" y="4453128"/>
            <a:ext cx="365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1600" dirty="0"/>
          </a:p>
        </p:txBody>
      </p:sp>
      <p:sp>
        <p:nvSpPr>
          <p:cNvPr id="49" name="Shape 37"/>
          <p:cNvSpPr/>
          <p:nvPr/>
        </p:nvSpPr>
        <p:spPr>
          <a:xfrm>
            <a:off x="548640" y="5056632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50" name="Shape 38"/>
          <p:cNvSpPr/>
          <p:nvPr/>
        </p:nvSpPr>
        <p:spPr>
          <a:xfrm>
            <a:off x="731520" y="5175504"/>
            <a:ext cx="329184" cy="329184"/>
          </a:xfrm>
          <a:prstGeom prst="ellipse">
            <a:avLst/>
          </a:prstGeom>
          <a:solidFill>
            <a:srgbClr val="8A7A6D"/>
          </a:solidFill>
          <a:ln/>
        </p:spPr>
      </p:sp>
      <p:pic>
        <p:nvPicPr>
          <p:cNvPr id="51" name="Image 10" descr="/home/rayhanyovi/Documents/Projects/storybook/deck/icons/napkin_whit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0524" y="5254508"/>
            <a:ext cx="171176" cy="171176"/>
          </a:xfrm>
          <a:prstGeom prst="rect">
            <a:avLst/>
          </a:prstGeom>
        </p:spPr>
      </p:pic>
      <p:sp>
        <p:nvSpPr>
          <p:cNvPr id="52" name="Text 39"/>
          <p:cNvSpPr/>
          <p:nvPr/>
        </p:nvSpPr>
        <p:spPr>
          <a:xfrm>
            <a:off x="1170432" y="5056632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Single child per account</a:t>
            </a:r>
            <a:endParaRPr lang="en-US" sz="1100" dirty="0"/>
          </a:p>
        </p:txBody>
      </p:sp>
      <p:sp>
        <p:nvSpPr>
          <p:cNvPr id="53" name="Shape 40"/>
          <p:cNvSpPr/>
          <p:nvPr/>
        </p:nvSpPr>
        <p:spPr>
          <a:xfrm>
            <a:off x="6278728" y="5056632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D9F3EF"/>
          </a:solidFill>
          <a:ln/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54" name="Shape 41"/>
          <p:cNvSpPr/>
          <p:nvPr/>
        </p:nvSpPr>
        <p:spPr>
          <a:xfrm>
            <a:off x="6461608" y="5175504"/>
            <a:ext cx="329184" cy="329184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55" name="Image 11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40612" y="5254508"/>
            <a:ext cx="171176" cy="171176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6900520" y="5056632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Multi-child profiles with separate progress</a:t>
            </a:r>
            <a:endParaRPr lang="en-US" sz="1100" dirty="0"/>
          </a:p>
        </p:txBody>
      </p:sp>
      <p:sp>
        <p:nvSpPr>
          <p:cNvPr id="57" name="Text 43"/>
          <p:cNvSpPr/>
          <p:nvPr/>
        </p:nvSpPr>
        <p:spPr>
          <a:xfrm>
            <a:off x="5912968" y="5056632"/>
            <a:ext cx="365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1600" dirty="0"/>
          </a:p>
        </p:txBody>
      </p:sp>
      <p:sp>
        <p:nvSpPr>
          <p:cNvPr id="58" name="Shape 44"/>
          <p:cNvSpPr/>
          <p:nvPr/>
        </p:nvSpPr>
        <p:spPr>
          <a:xfrm>
            <a:off x="548640" y="5660136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59" name="Shape 45"/>
          <p:cNvSpPr/>
          <p:nvPr/>
        </p:nvSpPr>
        <p:spPr>
          <a:xfrm>
            <a:off x="731520" y="5779008"/>
            <a:ext cx="329184" cy="329184"/>
          </a:xfrm>
          <a:prstGeom prst="ellipse">
            <a:avLst/>
          </a:prstGeom>
          <a:solidFill>
            <a:srgbClr val="8A7A6D"/>
          </a:solidFill>
          <a:ln/>
        </p:spPr>
      </p:sp>
      <p:pic>
        <p:nvPicPr>
          <p:cNvPr id="60" name="Image 12" descr="/home/rayhanyovi/Documents/Projects/storybook/deck/icons/napkin_whit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0524" y="5858012"/>
            <a:ext cx="171176" cy="171176"/>
          </a:xfrm>
          <a:prstGeom prst="rect">
            <a:avLst/>
          </a:prstGeom>
        </p:spPr>
      </p:pic>
      <p:sp>
        <p:nvSpPr>
          <p:cNvPr id="61" name="Text 46"/>
          <p:cNvSpPr/>
          <p:nvPr/>
        </p:nvSpPr>
        <p:spPr>
          <a:xfrm>
            <a:off x="1170432" y="5660136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Screen-time limit, local only</a:t>
            </a:r>
            <a:endParaRPr lang="en-US" sz="1100" dirty="0"/>
          </a:p>
        </p:txBody>
      </p:sp>
      <p:sp>
        <p:nvSpPr>
          <p:cNvPr id="62" name="Shape 47"/>
          <p:cNvSpPr/>
          <p:nvPr/>
        </p:nvSpPr>
        <p:spPr>
          <a:xfrm>
            <a:off x="6278728" y="5660136"/>
            <a:ext cx="5364328" cy="493776"/>
          </a:xfrm>
          <a:prstGeom prst="roundRect">
            <a:avLst>
              <a:gd name="adj" fmla="val 29630"/>
            </a:avLst>
          </a:prstGeom>
          <a:solidFill>
            <a:srgbClr val="D9F3EF"/>
          </a:solidFill>
          <a:ln/>
          <a:effectLst>
            <a:outerShdw sx="100000" sy="100000" kx="0" ky="0" algn="bl" rotWithShape="0" blurRad="50800" dist="12700" dir="5400000">
              <a:srgbClr val="3A2E28">
                <a:alpha val="6000"/>
              </a:srgbClr>
            </a:outerShdw>
          </a:effectLst>
        </p:spPr>
      </p:sp>
      <p:sp>
        <p:nvSpPr>
          <p:cNvPr id="63" name="Shape 48"/>
          <p:cNvSpPr/>
          <p:nvPr/>
        </p:nvSpPr>
        <p:spPr>
          <a:xfrm>
            <a:off x="6461608" y="5779008"/>
            <a:ext cx="329184" cy="329184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64" name="Image 13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40612" y="5858012"/>
            <a:ext cx="171176" cy="171176"/>
          </a:xfrm>
          <a:prstGeom prst="rect">
            <a:avLst/>
          </a:prstGeom>
        </p:spPr>
      </p:pic>
      <p:sp>
        <p:nvSpPr>
          <p:cNvPr id="65" name="Text 49"/>
          <p:cNvSpPr/>
          <p:nvPr/>
        </p:nvSpPr>
        <p:spPr>
          <a:xfrm>
            <a:off x="6900520" y="5660136"/>
            <a:ext cx="45870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OS-level Screen Time / Family Link hooks</a:t>
            </a:r>
            <a:endParaRPr lang="en-US" sz="1100" dirty="0"/>
          </a:p>
        </p:txBody>
      </p:sp>
      <p:sp>
        <p:nvSpPr>
          <p:cNvPr id="66" name="Text 50"/>
          <p:cNvSpPr/>
          <p:nvPr/>
        </p:nvSpPr>
        <p:spPr>
          <a:xfrm>
            <a:off x="5912968" y="5660136"/>
            <a:ext cx="365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7B54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→</a:t>
            </a:r>
            <a:endParaRPr lang="en-US" sz="1600" dirty="0"/>
          </a:p>
        </p:txBody>
      </p:sp>
      <p:sp>
        <p:nvSpPr>
          <p:cNvPr id="67" name="Text 5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Technical</a:t>
            </a:r>
            <a:endParaRPr lang="en-US" sz="900" dirty="0"/>
          </a:p>
        </p:txBody>
      </p:sp>
      <p:sp>
        <p:nvSpPr>
          <p:cNvPr id="68" name="Text 52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A2E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41368" y="822960"/>
            <a:ext cx="3108960" cy="3108960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203200" dist="63500" dir="5400000">
              <a:srgbClr val="3A2E28">
                <a:alpha val="25000"/>
              </a:srgbClr>
            </a:outerShdw>
          </a:effectLst>
        </p:spPr>
      </p:sp>
      <p:pic>
        <p:nvPicPr>
          <p:cNvPr id="3" name="Image 0" descr="/home/rayhanyovi/Documents/Projects/storybook/deck/assets/n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61408" y="914400"/>
            <a:ext cx="2562076" cy="2926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97764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1981048" y="4800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paid digital library where a child can roam freely — and a parent stays in control.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24248" y="5532120"/>
            <a:ext cx="2743200" cy="0"/>
          </a:xfrm>
          <a:prstGeom prst="line">
            <a:avLst/>
          </a:prstGeom>
          <a:noFill/>
          <a:ln w="25400">
            <a:solidFill>
              <a:srgbClr val="FFC93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0" y="612648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Muhammad Rayhan Yovi  ·  Product Design &amp; Engineering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— Product Design &amp; Engineering</dc:title>
  <dc:subject>PptxGenJS Presentation</dc:subject>
  <dc:creator>Muhammad Rayhan Yovi</dc:creator>
  <cp:lastModifiedBy>Muhammad Rayhan Yovi</cp:lastModifiedBy>
  <cp:revision>1</cp:revision>
  <dcterms:created xsi:type="dcterms:W3CDTF">2026-06-09T04:38:34Z</dcterms:created>
  <dcterms:modified xsi:type="dcterms:W3CDTF">2026-06-09T04:38:34Z</dcterms:modified>
</cp:coreProperties>
</file>
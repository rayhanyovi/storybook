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FF7B54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3A2E28"/>
                    </a:solidFill>
                    <a:latin typeface="Fredok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Registered</c:v>
                  </c:pt>
                  <c:pt idx="1">
                    <c:v>Activated</c:v>
                  </c:pt>
                  <c:pt idx="2">
                    <c:v>Paying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</c:v>
                </c:pt>
                <c:pt idx="1">
                  <c:v>300</c:v>
                </c:pt>
                <c:pt idx="2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3A2E28"/>
                  </a:solidFill>
                  <a:latin typeface="Fredok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3A2E28"/>
                </a:solidFill>
                <a:latin typeface="Nuni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3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5.png"/><Relationship Id="rId6" Type="http://schemas.openxmlformats.org/officeDocument/2006/relationships/image" Target="../media/image-8-2.png"/><Relationship Id="rId7" Type="http://schemas.openxmlformats.org/officeDocument/2006/relationships/image" Target="../media/image-8-2.png"/><Relationship Id="rId8" Type="http://schemas.openxmlformats.org/officeDocument/2006/relationships/image" Target="../media/image-8-2.png"/><Relationship Id="rId9" Type="http://schemas.openxmlformats.org/officeDocument/2006/relationships/image" Target="../media/image-8-9.png"/><Relationship Id="rId10" Type="http://schemas.openxmlformats.org/officeDocument/2006/relationships/image" Target="../media/image-8-2.png"/><Relationship Id="rId11" Type="http://schemas.openxmlformats.org/officeDocument/2006/relationships/image" Target="../media/image-8-2.png"/><Relationship Id="rId12" Type="http://schemas.openxmlformats.org/officeDocument/2006/relationships/image" Target="../media/image-8-2.png"/><Relationship Id="rId13" Type="http://schemas.openxmlformats.org/officeDocument/2006/relationships/image" Target="../media/image-8-13.png"/><Relationship Id="rId14" Type="http://schemas.openxmlformats.org/officeDocument/2006/relationships/image" Target="../media/image-8-2.png"/><Relationship Id="rId15" Type="http://schemas.openxmlformats.org/officeDocument/2006/relationships/image" Target="../media/image-8-2.png"/><Relationship Id="rId16" Type="http://schemas.openxmlformats.org/officeDocument/2006/relationships/image" Target="../media/image-8-2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3-1.png"/><Relationship Id="rId3" Type="http://schemas.openxmlformats.org/officeDocument/2006/relationships/image" Target="../media/image-13-2.png"/><Relationship Id="rId4" Type="http://schemas.openxmlformats.org/officeDocument/2006/relationships/image" Target="../media/image-13-3.png"/><Relationship Id="rId5" Type="http://schemas.openxmlformats.org/officeDocument/2006/relationships/image" Target="../media/image-13-4.png"/><Relationship Id="rId6" Type="http://schemas.openxmlformats.org/officeDocument/2006/relationships/image" Target="../media/image-13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7.png"/><Relationship Id="rId9" Type="http://schemas.openxmlformats.org/officeDocument/2006/relationships/image" Target="../media/image-15-7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1051560"/>
            <a:ext cx="4069080" cy="4069080"/>
          </a:xfrm>
          <a:prstGeom prst="ellipse">
            <a:avLst/>
          </a:prstGeom>
          <a:solidFill>
            <a:srgbClr val="FFEFC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160520"/>
            <a:ext cx="914400" cy="914400"/>
          </a:xfrm>
          <a:prstGeom prst="ellipse">
            <a:avLst/>
          </a:prstGeom>
          <a:solidFill>
            <a:srgbClr val="D9F3EF"/>
          </a:solidFill>
          <a:ln/>
        </p:spPr>
      </p:sp>
      <p:sp>
        <p:nvSpPr>
          <p:cNvPr id="4" name="Shape 2"/>
          <p:cNvSpPr/>
          <p:nvPr/>
        </p:nvSpPr>
        <p:spPr>
          <a:xfrm>
            <a:off x="11201400" y="1371600"/>
            <a:ext cx="502920" cy="502920"/>
          </a:xfrm>
          <a:prstGeom prst="ellipse">
            <a:avLst/>
          </a:prstGeom>
          <a:solidFill>
            <a:srgbClr val="FFE3D7"/>
          </a:solidFill>
          <a:ln/>
        </p:spPr>
      </p:sp>
      <p:pic>
        <p:nvPicPr>
          <p:cNvPr id="5" name="Image 0" descr="/home/rayhanyovi/Documents/Projects/storybook/deck/assets/oyen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417320"/>
            <a:ext cx="3844343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" y="1325880"/>
            <a:ext cx="3241365" cy="310896"/>
          </a:xfrm>
          <a:prstGeom prst="roundRect">
            <a:avLst>
              <a:gd name="adj" fmla="val 50000"/>
            </a:avLst>
          </a:prstGeom>
          <a:solidFill>
            <a:srgbClr val="FF7B54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325880"/>
            <a:ext cx="324136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6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PRODUCT &amp; ENGINEERING SUBMISSION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49808" y="178308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Storybook</a:t>
            </a:r>
            <a:endParaRPr lang="en-US" sz="7600" dirty="0"/>
          </a:p>
        </p:txBody>
      </p:sp>
      <p:sp>
        <p:nvSpPr>
          <p:cNvPr id="9" name="Text 6"/>
          <p:cNvSpPr/>
          <p:nvPr/>
        </p:nvSpPr>
        <p:spPr>
          <a:xfrm>
            <a:off x="841248" y="3127248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paid digital library for kids — safe to browse, flexible to buy, and simple for a catalog team to run.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41248" y="4224528"/>
            <a:ext cx="2644445" cy="402336"/>
          </a:xfrm>
          <a:prstGeom prst="roundRect">
            <a:avLst>
              <a:gd name="adj" fmla="val 50000"/>
            </a:avLst>
          </a:prstGeom>
          <a:solidFill>
            <a:srgbClr val="FFFDF9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4224528"/>
            <a:ext cx="264444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Subscription + Buy-to-keep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86861" y="4224528"/>
            <a:ext cx="2139696" cy="402336"/>
          </a:xfrm>
          <a:prstGeom prst="roundRect">
            <a:avLst>
              <a:gd name="adj" fmla="val 50000"/>
            </a:avLst>
          </a:prstGeom>
          <a:solidFill>
            <a:srgbClr val="FFFDF9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86861" y="4224528"/>
            <a:ext cx="2139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Kid · Parent · Admin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27725" y="4224528"/>
            <a:ext cx="3065069" cy="402336"/>
          </a:xfrm>
          <a:prstGeom prst="roundRect">
            <a:avLst>
              <a:gd name="adj" fmla="val 50000"/>
            </a:avLst>
          </a:prstGeom>
          <a:solidFill>
            <a:srgbClr val="FFFDF9"/>
          </a:solidFill>
          <a:ln w="19050">
            <a:solidFill>
              <a:srgbClr val="4CB9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27725" y="4224528"/>
            <a:ext cx="306506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React 19 · Express 5 · Postgres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41248" y="52120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Muhammad Rayhan Yovi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Product Engineer — Technical Test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645006" cy="310896"/>
          </a:xfrm>
          <a:prstGeom prst="roundRect">
            <a:avLst>
              <a:gd name="adj" fmla="val 50000"/>
            </a:avLst>
          </a:prstGeom>
          <a:solidFill>
            <a:srgbClr val="FF7B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164500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Why Storybook exists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5364328" cy="4343400"/>
          </a:xfrm>
          <a:prstGeom prst="roundRect">
            <a:avLst>
              <a:gd name="adj" fmla="val 3368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01952"/>
            <a:ext cx="1298997" cy="310896"/>
          </a:xfrm>
          <a:prstGeom prst="roundRect">
            <a:avLst>
              <a:gd name="adj" fmla="val 50000"/>
            </a:avLst>
          </a:prstGeom>
          <a:solidFill>
            <a:srgbClr val="FFE3D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01952"/>
            <a:ext cx="129899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" kern="0" dirty="0">
                <a:solidFill>
                  <a:srgbClr val="F260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" y="2496312"/>
            <a:ext cx="457200" cy="457200"/>
          </a:xfrm>
          <a:prstGeom prst="ellipse">
            <a:avLst/>
          </a:prstGeom>
          <a:solidFill>
            <a:srgbClr val="FF4B4B"/>
          </a:solidFill>
          <a:ln/>
          <a:effectLst>
            <a:outerShdw sx="100000" sy="100000" kx="0" ky="0" algn="bl" rotWithShape="0" blurRad="63500" dist="25400" dir="5400000">
              <a:srgbClr val="3A2E28">
                <a:alpha val="13000"/>
              </a:srgbClr>
            </a:outerShdw>
          </a:effectLst>
        </p:spPr>
      </p:sp>
      <p:pic>
        <p:nvPicPr>
          <p:cNvPr id="9" name="Image 0" descr="/home/rayhanyovi/Documents/Projects/storybook/deck/icons/ba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15184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441448"/>
            <a:ext cx="415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Kids buy by accident</a:t>
            </a:r>
            <a:endParaRPr lang="en-US" sz="13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Every tap is the same gesture to a toddler — “buy” included.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41248" y="3374136"/>
            <a:ext cx="457200" cy="457200"/>
          </a:xfrm>
          <a:prstGeom prst="ellipse">
            <a:avLst/>
          </a:prstGeom>
          <a:solidFill>
            <a:srgbClr val="FFB020"/>
          </a:solidFill>
          <a:ln/>
          <a:effectLst>
            <a:outerShdw sx="100000" sy="100000" kx="0" ky="0" algn="bl" rotWithShape="0" blurRad="63500" dist="25400" dir="5400000">
              <a:srgbClr val="3A2E28">
                <a:alpha val="13000"/>
              </a:srgbClr>
            </a:outerShdw>
          </a:effectLst>
        </p:spPr>
      </p:sp>
      <p:pic>
        <p:nvPicPr>
          <p:cNvPr id="12" name="Image 1" descr="/home/rayhanyovi/Documents/Projects/storybook/deck/icons/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493008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3319272"/>
            <a:ext cx="415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Unsafe or low-quality content</a:t>
            </a:r>
            <a:endParaRPr lang="en-US" sz="13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Parents can’t trust an open catalog with ads and adult titles.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41248" y="4251960"/>
            <a:ext cx="457200" cy="457200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63500" dist="25400" dir="5400000">
              <a:srgbClr val="3A2E28">
                <a:alpha val="13000"/>
              </a:srgbClr>
            </a:outerShdw>
          </a:effectLst>
        </p:spPr>
      </p:sp>
      <p:pic>
        <p:nvPicPr>
          <p:cNvPr id="15" name="Image 2" descr="/home/rayhanyovi/Documents/Projects/storybook/deck/icons/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37083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4197096"/>
            <a:ext cx="415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One rigid subscription, no ownership</a:t>
            </a:r>
            <a:endParaRPr lang="en-US" sz="13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Cancel and you lose everything — even favorites read 40 times.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41248" y="5129784"/>
            <a:ext cx="457200" cy="457200"/>
          </a:xfrm>
          <a:prstGeom prst="ellipse">
            <a:avLst/>
          </a:prstGeom>
          <a:solidFill>
            <a:srgbClr val="4CB9E7"/>
          </a:solidFill>
          <a:ln/>
          <a:effectLst>
            <a:outerShdw sx="100000" sy="100000" kx="0" ky="0" algn="bl" rotWithShape="0" blurRad="63500" dist="25400" dir="5400000">
              <a:srgbClr val="3A2E28">
                <a:alpha val="13000"/>
              </a:srgbClr>
            </a:outerShdw>
          </a:effectLst>
        </p:spPr>
      </p:sp>
      <p:pic>
        <p:nvPicPr>
          <p:cNvPr id="18" name="Image 3" descr="/home/rayhanyovi/Documents/Projects/storybook/deck/icons/co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248656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5074920"/>
            <a:ext cx="415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 tooling for the catalog team</a:t>
            </a:r>
            <a:endParaRPr lang="en-US" sz="13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Operators need to publish and archive without engineering.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6278728" y="1627632"/>
            <a:ext cx="5364328" cy="4343400"/>
          </a:xfrm>
          <a:prstGeom prst="roundRect">
            <a:avLst>
              <a:gd name="adj" fmla="val 3368"/>
            </a:avLst>
          </a:prstGeom>
          <a:solidFill>
            <a:srgbClr val="3A2E28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53048" y="1901952"/>
            <a:ext cx="952988" cy="310896"/>
          </a:xfrm>
          <a:prstGeom prst="roundRect">
            <a:avLst>
              <a:gd name="adj" fmla="val 50000"/>
            </a:avLst>
          </a:prstGeom>
          <a:solidFill>
            <a:srgbClr val="FF7B54"/>
          </a:solidFill>
          <a:ln/>
        </p:spPr>
      </p:sp>
      <p:sp>
        <p:nvSpPr>
          <p:cNvPr id="22" name="Text 16"/>
          <p:cNvSpPr/>
          <p:nvPr/>
        </p:nvSpPr>
        <p:spPr>
          <a:xfrm>
            <a:off x="6553048" y="1901952"/>
            <a:ext cx="9529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OUR BET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589624" y="2468880"/>
            <a:ext cx="474253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3E3D2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The child’s delight drives </a:t>
            </a:r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C93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engagement</a:t>
            </a:r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3E3D2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,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3E3D2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but the parent’s trust drives 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C4B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payment</a:t>
            </a:r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3E3D2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.</a:t>
            </a:r>
            <a:endParaRPr lang="en-US" sz="2100" dirty="0"/>
          </a:p>
        </p:txBody>
      </p:sp>
      <p:sp>
        <p:nvSpPr>
          <p:cNvPr id="24" name="Text 18"/>
          <p:cNvSpPr/>
          <p:nvPr/>
        </p:nvSpPr>
        <p:spPr>
          <a:xfrm>
            <a:off x="6607912" y="4096512"/>
            <a:ext cx="4705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3E3D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Two experiences in one brand — a joyful kid surface and a controlled parent surface, split by a PIN gate.</a:t>
            </a:r>
            <a:endParaRPr lang="en-US" sz="1250" dirty="0"/>
          </a:p>
          <a:p>
            <a:pPr algn="l" marL="203200" indent="-2032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3E3D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Own books forever, or subscribe to the whole catalog. Two entitlements, never merged.</a:t>
            </a:r>
            <a:endParaRPr lang="en-US" sz="1250" dirty="0"/>
          </a:p>
          <a:p>
            <a:pPr algn="l" marL="203200" indent="-2032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3E3D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dedicated admin surface runs the catalog lifecycle end to end.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Storybook</a:t>
            </a:r>
            <a:pPr algn="l" indent="0" marL="0">
              <a:buNone/>
            </a:pPr>
            <a:r>
              <a:rPr lang="en-US" sz="90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Product &amp; Engineering Submission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385499" cy="310896"/>
          </a:xfrm>
          <a:prstGeom prst="roundRect">
            <a:avLst>
              <a:gd name="adj" fmla="val 50000"/>
            </a:avLst>
          </a:prstGeom>
          <a:solidFill>
            <a:srgbClr val="FF7B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13854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WHO IT’S FOR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Three people, one account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90874" cy="3200400"/>
          </a:xfrm>
          <a:prstGeom prst="roundRect">
            <a:avLst>
              <a:gd name="adj" fmla="val 4571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984248"/>
            <a:ext cx="713232" cy="713232"/>
          </a:xfrm>
          <a:prstGeom prst="ellipse">
            <a:avLst/>
          </a:prstGeom>
          <a:solidFill>
            <a:srgbClr val="FF7B54"/>
          </a:solidFill>
          <a:ln/>
          <a:effectLst>
            <a:outerShdw sx="100000" sy="100000" kx="0" ky="0" algn="bl" rotWithShape="0" blurRad="63500" dist="25400" dir="5400000">
              <a:srgbClr val="3A2E28">
                <a:alpha val="13000"/>
              </a:srgbClr>
            </a:outerShdw>
          </a:effectLst>
        </p:spPr>
      </p:sp>
      <p:pic>
        <p:nvPicPr>
          <p:cNvPr id="7" name="Image 0" descr="/home/rayhanyovi/Documents/Projects/storybook/deck/icons/us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688" y="2169688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82496" y="2002536"/>
            <a:ext cx="22107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F7B5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PARENT · THE BUYER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682496" y="2240280"/>
            <a:ext cx="2210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Dina, 34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59536" y="2898648"/>
            <a:ext cx="28690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Mom of a 4-year-old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59536" y="3264408"/>
            <a:ext cx="286908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Safe, age-appropriate stories. Control spending. Trust her kid can’t rack up charges.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59536" y="4288536"/>
            <a:ext cx="2869082" cy="384048"/>
          </a:xfrm>
          <a:prstGeom prst="roundRect">
            <a:avLst>
              <a:gd name="adj" fmla="val 50000"/>
            </a:avLst>
          </a:prstGeom>
          <a:solidFill>
            <a:srgbClr val="FFE3D7"/>
          </a:solidFill>
          <a:ln/>
        </p:spPr>
      </p:sp>
      <p:sp>
        <p:nvSpPr>
          <p:cNvPr id="13" name="Text 10"/>
          <p:cNvSpPr/>
          <p:nvPr/>
        </p:nvSpPr>
        <p:spPr>
          <a:xfrm>
            <a:off x="859536" y="4288536"/>
            <a:ext cx="286908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Holds the wallet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50410" y="1691640"/>
            <a:ext cx="3490874" cy="3200400"/>
          </a:xfrm>
          <a:prstGeom prst="roundRect">
            <a:avLst>
              <a:gd name="adj" fmla="val 4571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43018" y="1984248"/>
            <a:ext cx="713232" cy="713232"/>
          </a:xfrm>
          <a:prstGeom prst="ellipse">
            <a:avLst/>
          </a:prstGeom>
          <a:solidFill>
            <a:srgbClr val="2EC4B6"/>
          </a:solidFill>
          <a:ln/>
          <a:effectLst>
            <a:outerShdw sx="100000" sy="100000" kx="0" ky="0" algn="bl" rotWithShape="0" blurRad="63500" dist="25400" dir="5400000">
              <a:srgbClr val="3A2E28">
                <a:alpha val="13000"/>
              </a:srgbClr>
            </a:outerShdw>
          </a:effectLst>
        </p:spPr>
      </p:sp>
      <p:pic>
        <p:nvPicPr>
          <p:cNvPr id="16" name="Image 1" descr="/home/rayhanyovi/Documents/Projects/storybook/deck/icons/chi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459" y="2169688"/>
            <a:ext cx="342351" cy="34235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84266" y="2002536"/>
            <a:ext cx="22107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EC4B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CHILD · THE READER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484266" y="2240280"/>
            <a:ext cx="2210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Adit, 4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4661306" y="2898648"/>
            <a:ext cx="28690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Loves pictures &amp; tapping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661306" y="3264408"/>
            <a:ext cx="286908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Colorful pictures, move through a story, feel rewarded — all without help.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4661306" y="4288536"/>
            <a:ext cx="2869082" cy="384048"/>
          </a:xfrm>
          <a:prstGeom prst="roundRect">
            <a:avLst>
              <a:gd name="adj" fmla="val 50000"/>
            </a:avLst>
          </a:prstGeom>
          <a:solidFill>
            <a:srgbClr val="D9F3EF"/>
          </a:solidFill>
          <a:ln/>
        </p:spPr>
      </p:sp>
      <p:sp>
        <p:nvSpPr>
          <p:cNvPr id="22" name="Text 18"/>
          <p:cNvSpPr/>
          <p:nvPr/>
        </p:nvSpPr>
        <p:spPr>
          <a:xfrm>
            <a:off x="4661306" y="4288536"/>
            <a:ext cx="286908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engagement engine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8152181" y="1691640"/>
            <a:ext cx="3490874" cy="3200400"/>
          </a:xfrm>
          <a:prstGeom prst="roundRect">
            <a:avLst>
              <a:gd name="adj" fmla="val 4571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444789" y="1984248"/>
            <a:ext cx="713232" cy="713232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63500" dist="25400" dir="5400000">
              <a:srgbClr val="3A2E28">
                <a:alpha val="13000"/>
              </a:srgbClr>
            </a:outerShdw>
          </a:effectLst>
        </p:spPr>
      </p:sp>
      <p:pic>
        <p:nvPicPr>
          <p:cNvPr id="25" name="Image 2" descr="/home/rayhanyovi/Documents/Projects/storybook/deck/icons/userCo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0229" y="2169688"/>
            <a:ext cx="342351" cy="342351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286037" y="2002536"/>
            <a:ext cx="22107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A78BF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ADMIN · THE OPERATOR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9286037" y="2240280"/>
            <a:ext cx="2210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Catalog manager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8463077" y="2898648"/>
            <a:ext cx="28690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Internal content team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8463077" y="3264408"/>
            <a:ext cx="286908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Add books, keep metadata correct, control availability: draft, published, archived.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8463077" y="4288536"/>
            <a:ext cx="2869082" cy="384048"/>
          </a:xfrm>
          <a:prstGeom prst="roundRect">
            <a:avLst>
              <a:gd name="adj" fmla="val 50000"/>
            </a:avLst>
          </a:prstGeom>
          <a:solidFill>
            <a:srgbClr val="ECE6FE"/>
          </a:solidFill>
          <a:ln/>
        </p:spPr>
      </p:sp>
      <p:sp>
        <p:nvSpPr>
          <p:cNvPr id="31" name="Text 26"/>
          <p:cNvSpPr/>
          <p:nvPr/>
        </p:nvSpPr>
        <p:spPr>
          <a:xfrm>
            <a:off x="8463077" y="4288536"/>
            <a:ext cx="286908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Owns catalog quality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548640" y="5184648"/>
            <a:ext cx="11094415" cy="841248"/>
          </a:xfrm>
          <a:prstGeom prst="roundRect">
            <a:avLst>
              <a:gd name="adj" fmla="val 17391"/>
            </a:avLst>
          </a:prstGeom>
          <a:solidFill>
            <a:srgbClr val="3A2E28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4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859536" y="5376672"/>
            <a:ext cx="457200" cy="457200"/>
          </a:xfrm>
          <a:prstGeom prst="ellipse">
            <a:avLst/>
          </a:prstGeom>
          <a:solidFill>
            <a:srgbClr val="FFC93C"/>
          </a:solidFill>
          <a:ln/>
          <a:effectLst>
            <a:outerShdw sx="100000" sy="100000" kx="0" ky="0" algn="bl" rotWithShape="0" blurRad="63500" dist="25400" dir="5400000">
              <a:srgbClr val="3A2E28">
                <a:alpha val="13000"/>
              </a:srgbClr>
            </a:outerShdw>
          </a:effectLst>
        </p:spPr>
      </p:sp>
      <p:pic>
        <p:nvPicPr>
          <p:cNvPr id="34" name="Image 3" descr="/home/rayhanyovi/Documents/Projects/storybook/deck/icons/exchange_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5495544"/>
            <a:ext cx="219456" cy="21945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463040" y="5184648"/>
            <a:ext cx="990569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C93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Buyer ≠ reader. 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3E3D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account belongs to the parent; the child is a constrained view of it — and CRUD lives in a separate admin role.</a:t>
            </a:r>
            <a:endParaRPr lang="en-US" sz="1500" dirty="0"/>
          </a:p>
        </p:txBody>
      </p:sp>
      <p:sp>
        <p:nvSpPr>
          <p:cNvPr id="36" name="Text 30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Storybook</a:t>
            </a:r>
            <a:pPr algn="l" indent="0" marL="0">
              <a:buNone/>
            </a:pPr>
            <a:r>
              <a:rPr lang="en-US" sz="90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Product &amp; Engineering Submission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731508" cy="310896"/>
          </a:xfrm>
          <a:prstGeom prst="roundRect">
            <a:avLst>
              <a:gd name="adj" fmla="val 50000"/>
            </a:avLst>
          </a:prstGeom>
          <a:solidFill>
            <a:srgbClr val="FF7B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17315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PRODUCT THINKING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Designed around how toddlers actually are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Domain insights that separate a kids’ product from a generic app with a bright color scheme.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10048" cy="1993392"/>
          </a:xfrm>
          <a:prstGeom prst="roundRect">
            <a:avLst>
              <a:gd name="adj" fmla="val 7339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2139696"/>
            <a:ext cx="676656" cy="676656"/>
          </a:xfrm>
          <a:prstGeom prst="ellipse">
            <a:avLst/>
          </a:prstGeom>
          <a:solidFill>
            <a:srgbClr val="FF7B54"/>
          </a:solidFill>
          <a:ln/>
          <a:effectLst>
            <a:outerShdw sx="100000" sy="100000" kx="0" ky="0" algn="bl" rotWithShape="0" blurRad="63500" dist="25400" dir="5400000">
              <a:srgbClr val="3A2E28">
                <a:alpha val="13000"/>
              </a:srgbClr>
            </a:outerShdw>
          </a:effectLst>
        </p:spPr>
      </p:sp>
      <p:pic>
        <p:nvPicPr>
          <p:cNvPr id="8" name="Image 0" descr="/home/rayhanyovi/Documents/Projects/storybook/deck/icons/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467" y="2315627"/>
            <a:ext cx="324795" cy="32479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00784" y="2139696"/>
            <a:ext cx="40384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6-page books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77824" y="2907792"/>
            <a:ext cx="475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Calibrated to a single toddler session. Sustained attention at age 2–4 is just 2–5 minutes — one short book is one complete session, with a clear finish-reward endpoint.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33008" y="1828800"/>
            <a:ext cx="5410048" cy="1993392"/>
          </a:xfrm>
          <a:prstGeom prst="roundRect">
            <a:avLst>
              <a:gd name="adj" fmla="val 7339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43904" y="2139696"/>
            <a:ext cx="676656" cy="676656"/>
          </a:xfrm>
          <a:prstGeom prst="ellipse">
            <a:avLst/>
          </a:prstGeom>
          <a:solidFill>
            <a:srgbClr val="2EC4B6"/>
          </a:solidFill>
          <a:ln/>
          <a:effectLst>
            <a:outerShdw sx="100000" sy="100000" kx="0" ky="0" algn="bl" rotWithShape="0" blurRad="63500" dist="25400" dir="5400000">
              <a:srgbClr val="3A2E28">
                <a:alpha val="13000"/>
              </a:srgbClr>
            </a:outerShdw>
          </a:effectLst>
        </p:spPr>
      </p:sp>
      <p:pic>
        <p:nvPicPr>
          <p:cNvPr id="13" name="Image 1" descr="/home/rayhanyovi/Documents/Projects/storybook/deck/icons/feath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834" y="2315627"/>
            <a:ext cx="324795" cy="32479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85152" y="2139696"/>
            <a:ext cx="40384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Restrained motion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62192" y="2907792"/>
            <a:ext cx="475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reading view is a motion-free zone; never more than 2 animated elements. Same science behind Bluey &amp; Peppa — the pause is the content, not boredom.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4078224"/>
            <a:ext cx="5410048" cy="1993392"/>
          </a:xfrm>
          <a:prstGeom prst="roundRect">
            <a:avLst>
              <a:gd name="adj" fmla="val 7339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9536" y="4389120"/>
            <a:ext cx="676656" cy="676656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63500" dist="25400" dir="5400000">
              <a:srgbClr val="3A2E28">
                <a:alpha val="13000"/>
              </a:srgbClr>
            </a:outerShdw>
          </a:effectLst>
        </p:spPr>
      </p:sp>
      <p:pic>
        <p:nvPicPr>
          <p:cNvPr id="18" name="Image 2" descr="/home/rayhanyovi/Documents/Projects/storybook/deck/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467" y="4565051"/>
            <a:ext cx="324795" cy="32479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00784" y="4389120"/>
            <a:ext cx="40384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Purchase UI is structurally absent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77824" y="5157216"/>
            <a:ext cx="475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There is no buy button in kid mode — not hidden, not permission-checked, simply not rendered. A toddler can’t tap what doesn’t exist.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33008" y="4078224"/>
            <a:ext cx="5410048" cy="1993392"/>
          </a:xfrm>
          <a:prstGeom prst="roundRect">
            <a:avLst>
              <a:gd name="adj" fmla="val 7339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43904" y="4389120"/>
            <a:ext cx="676656" cy="676656"/>
          </a:xfrm>
          <a:prstGeom prst="ellipse">
            <a:avLst/>
          </a:prstGeom>
          <a:solidFill>
            <a:srgbClr val="4CB9E7"/>
          </a:solidFill>
          <a:ln/>
          <a:effectLst>
            <a:outerShdw sx="100000" sy="100000" kx="0" ky="0" algn="bl" rotWithShape="0" blurRad="63500" dist="25400" dir="5400000">
              <a:srgbClr val="3A2E28">
                <a:alpha val="13000"/>
              </a:srgbClr>
            </a:outerShdw>
          </a:effectLst>
        </p:spPr>
      </p:sp>
      <p:pic>
        <p:nvPicPr>
          <p:cNvPr id="23" name="Image 3" descr="/home/rayhanyovi/Documents/Projects/storybook/deck/icons/han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834" y="4565051"/>
            <a:ext cx="324795" cy="32479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85152" y="4389120"/>
            <a:ext cx="40384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64–72px tap targets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6562192" y="5157216"/>
            <a:ext cx="475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Toddler motor precision ≈ an adult using their non-dominant hand in oven mitts. Oversized targets aren’t over-engineering — they’re the correct engineering.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Storybook</a:t>
            </a:r>
            <a:pPr algn="l" indent="0" marL="0">
              <a:buNone/>
            </a:pPr>
            <a:r>
              <a:rPr lang="en-US" sz="90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Product &amp; Engineering Submission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2164019" cy="310896"/>
          </a:xfrm>
          <a:prstGeom prst="roundRect">
            <a:avLst>
              <a:gd name="adj" fmla="val 50000"/>
            </a:avLst>
          </a:prstGeom>
          <a:solidFill>
            <a:srgbClr val="FF7B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216401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ARCHITECTURE OF TRUST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Three surfaces, one brand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90874" cy="3977640"/>
          </a:xfrm>
          <a:prstGeom prst="roundRect">
            <a:avLst>
              <a:gd name="adj" fmla="val 4191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3490874" cy="1060704"/>
          </a:xfrm>
          <a:prstGeom prst="roundRect">
            <a:avLst>
              <a:gd name="adj" fmla="val 13793"/>
            </a:avLst>
          </a:prstGeom>
          <a:solidFill>
            <a:srgbClr val="2EC4B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295144"/>
            <a:ext cx="3490874" cy="457200"/>
          </a:xfrm>
          <a:prstGeom prst="rectangle">
            <a:avLst/>
          </a:prstGeom>
          <a:solidFill>
            <a:srgbClr val="2EC4B6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19476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/home/rayhanyovi/Documents/Projects/storybook/deck/icons/child_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649" y="2095073"/>
            <a:ext cx="272125" cy="2721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17904" y="1947672"/>
            <a:ext cx="239359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Kid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859536" y="2862072"/>
            <a:ext cx="286908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Default after login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59536" y="3209544"/>
            <a:ext cx="286908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4B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CAN DO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77824" y="3465576"/>
            <a:ext cx="283250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Browse the catalog grid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Read accessible books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See locked items softly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59536" y="4654296"/>
            <a:ext cx="286908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CANNOT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77824" y="4892040"/>
            <a:ext cx="283250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Buy or subscribe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Manage or CRUD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350410" y="1691640"/>
            <a:ext cx="3490874" cy="3977640"/>
          </a:xfrm>
          <a:prstGeom prst="roundRect">
            <a:avLst>
              <a:gd name="adj" fmla="val 4191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50410" y="1691640"/>
            <a:ext cx="3490874" cy="1060704"/>
          </a:xfrm>
          <a:prstGeom prst="roundRect">
            <a:avLst>
              <a:gd name="adj" fmla="val 13793"/>
            </a:avLst>
          </a:prstGeom>
          <a:solidFill>
            <a:srgbClr val="FF7B54"/>
          </a:solidFill>
          <a:ln/>
        </p:spPr>
      </p:sp>
      <p:sp>
        <p:nvSpPr>
          <p:cNvPr id="18" name="Shape 15"/>
          <p:cNvSpPr/>
          <p:nvPr/>
        </p:nvSpPr>
        <p:spPr>
          <a:xfrm>
            <a:off x="4350410" y="2295144"/>
            <a:ext cx="3490874" cy="457200"/>
          </a:xfrm>
          <a:prstGeom prst="rectangle">
            <a:avLst/>
          </a:prstGeom>
          <a:solidFill>
            <a:srgbClr val="FF7B54"/>
          </a:solidFill>
          <a:ln/>
        </p:spPr>
      </p:sp>
      <p:sp>
        <p:nvSpPr>
          <p:cNvPr id="19" name="Shape 16"/>
          <p:cNvSpPr/>
          <p:nvPr/>
        </p:nvSpPr>
        <p:spPr>
          <a:xfrm>
            <a:off x="4643018" y="19476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1" descr="/home/rayhanyovi/Documents/Projects/storybook/deck/icons/key_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420" y="2095073"/>
            <a:ext cx="272125" cy="27212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19674" y="1947672"/>
            <a:ext cx="239359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Parent</a:t>
            </a:r>
            <a:endParaRPr lang="en-US" sz="2100" dirty="0"/>
          </a:p>
        </p:txBody>
      </p:sp>
      <p:sp>
        <p:nvSpPr>
          <p:cNvPr id="22" name="Text 18"/>
          <p:cNvSpPr/>
          <p:nvPr/>
        </p:nvSpPr>
        <p:spPr>
          <a:xfrm>
            <a:off x="4661306" y="2862072"/>
            <a:ext cx="286908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PIN gate from kid mode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661306" y="3209544"/>
            <a:ext cx="286908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7B5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CAN DO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4679594" y="3465576"/>
            <a:ext cx="283250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Subscribe &amp; renew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Buy-to-keep books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Library + account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4661306" y="4654296"/>
            <a:ext cx="286908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CANNOT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4679594" y="4892040"/>
            <a:ext cx="283250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Catalog CRUD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(that’s admin)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8152181" y="1691640"/>
            <a:ext cx="3490874" cy="3977640"/>
          </a:xfrm>
          <a:prstGeom prst="roundRect">
            <a:avLst>
              <a:gd name="adj" fmla="val 4191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8152181" y="1691640"/>
            <a:ext cx="3490874" cy="1060704"/>
          </a:xfrm>
          <a:prstGeom prst="roundRect">
            <a:avLst>
              <a:gd name="adj" fmla="val 13793"/>
            </a:avLst>
          </a:prstGeom>
          <a:solidFill>
            <a:srgbClr val="A78BFA"/>
          </a:solidFill>
          <a:ln/>
        </p:spPr>
      </p:sp>
      <p:sp>
        <p:nvSpPr>
          <p:cNvPr id="29" name="Shape 25"/>
          <p:cNvSpPr/>
          <p:nvPr/>
        </p:nvSpPr>
        <p:spPr>
          <a:xfrm>
            <a:off x="8152181" y="2295144"/>
            <a:ext cx="3490874" cy="457200"/>
          </a:xfrm>
          <a:prstGeom prst="rectangle">
            <a:avLst/>
          </a:prstGeom>
          <a:solidFill>
            <a:srgbClr val="A78BFA"/>
          </a:solidFill>
          <a:ln/>
        </p:spPr>
      </p:sp>
      <p:sp>
        <p:nvSpPr>
          <p:cNvPr id="30" name="Shape 26"/>
          <p:cNvSpPr/>
          <p:nvPr/>
        </p:nvSpPr>
        <p:spPr>
          <a:xfrm>
            <a:off x="8444789" y="19476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2" descr="/home/rayhanyovi/Documents/Projects/storybook/deck/icons/userCog_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190" y="2095073"/>
            <a:ext cx="272125" cy="272125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9121445" y="1947672"/>
            <a:ext cx="239359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Admin</a:t>
            </a:r>
            <a:endParaRPr lang="en-US" sz="2100" dirty="0"/>
          </a:p>
        </p:txBody>
      </p:sp>
      <p:sp>
        <p:nvSpPr>
          <p:cNvPr id="33" name="Text 28"/>
          <p:cNvSpPr/>
          <p:nvPr/>
        </p:nvSpPr>
        <p:spPr>
          <a:xfrm>
            <a:off x="8463077" y="2862072"/>
            <a:ext cx="286908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Separate admin account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8463077" y="3209544"/>
            <a:ext cx="286908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78BF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CAN DO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8481365" y="3465576"/>
            <a:ext cx="283250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Book &amp; category CRUD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Draft → publish → archive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Per-page story content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8463077" y="4654296"/>
            <a:ext cx="286908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CANNOT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8481365" y="4892040"/>
            <a:ext cx="283250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Kid/parent shopping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flows</a:t>
            </a:r>
            <a:endParaRPr lang="en-US" sz="1150" dirty="0"/>
          </a:p>
        </p:txBody>
      </p:sp>
      <p:sp>
        <p:nvSpPr>
          <p:cNvPr id="38" name="Text 33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Storybook</a:t>
            </a:r>
            <a:pPr algn="l" indent="0" marL="0">
              <a:buNone/>
            </a:pPr>
            <a:r>
              <a:rPr lang="en-US" sz="90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Product &amp; Engineering Submission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385499" cy="310896"/>
          </a:xfrm>
          <a:prstGeom prst="roundRect">
            <a:avLst>
              <a:gd name="adj" fmla="val 50000"/>
            </a:avLst>
          </a:prstGeom>
          <a:solidFill>
            <a:srgbClr val="FF7B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13854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WHAT’S BUILT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Feature set across every surface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5410048" cy="2084832"/>
          </a:xfrm>
          <a:prstGeom prst="roundRect">
            <a:avLst>
              <a:gd name="adj" fmla="val 7018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938528"/>
            <a:ext cx="548640" cy="548640"/>
          </a:xfrm>
          <a:prstGeom prst="ellipse">
            <a:avLst/>
          </a:prstGeom>
          <a:solidFill>
            <a:srgbClr val="2EC4B6"/>
          </a:solidFill>
          <a:ln/>
          <a:effectLst>
            <a:outerShdw sx="100000" sy="100000" kx="0" ky="0" algn="bl" rotWithShape="0" blurRad="63500" dist="25400" dir="5400000">
              <a:srgbClr val="3A2E28">
                <a:alpha val="13000"/>
              </a:srgbClr>
            </a:outerShdw>
          </a:effectLst>
        </p:spPr>
      </p:sp>
      <p:pic>
        <p:nvPicPr>
          <p:cNvPr id="7" name="Image 0" descr="/home/rayhanyovi/Documents/Projects/storybook/deck/icons/bookRead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081174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17904" y="1938528"/>
            <a:ext cx="431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Kid surface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77824" y="2596896"/>
            <a:ext cx="475168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Discover page + filtered catalog grid</a:t>
            </a:r>
            <a:endParaRPr lang="en-US" sz="1180" dirty="0"/>
          </a:p>
          <a:p>
            <a:pPr marL="190500" indent="-1905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Age filter chips (2–4, 4–6, 6–8, 8+)</a:t>
            </a:r>
            <a:endParaRPr lang="en-US" sz="1180" dirty="0"/>
          </a:p>
          <a:p>
            <a:pPr marL="190500" indent="-1905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Paper-flip reader, immersive full-screen</a:t>
            </a:r>
            <a:endParaRPr lang="en-US" sz="1180" dirty="0"/>
          </a:p>
          <a:p>
            <a:pPr marL="190500" indent="-1905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Locked books → gentle “Ask a grown-up”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233008" y="1664208"/>
            <a:ext cx="5410048" cy="2084832"/>
          </a:xfrm>
          <a:prstGeom prst="roundRect">
            <a:avLst>
              <a:gd name="adj" fmla="val 7018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25616" y="1938528"/>
            <a:ext cx="548640" cy="548640"/>
          </a:xfrm>
          <a:prstGeom prst="ellipse">
            <a:avLst/>
          </a:prstGeom>
          <a:solidFill>
            <a:srgbClr val="FF7B54"/>
          </a:solidFill>
          <a:ln/>
          <a:effectLst>
            <a:outerShdw sx="100000" sy="100000" kx="0" ky="0" algn="bl" rotWithShape="0" blurRad="63500" dist="25400" dir="5400000">
              <a:srgbClr val="3A2E28">
                <a:alpha val="13000"/>
              </a:srgbClr>
            </a:outerShdw>
          </a:effectLst>
        </p:spPr>
      </p:sp>
      <p:pic>
        <p:nvPicPr>
          <p:cNvPr id="12" name="Image 1" descr="/home/rayhanyovi/Documents/Projects/storybook/deck/icons/ke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262" y="2081174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02272" y="1938528"/>
            <a:ext cx="431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Parent surface · PIN-gated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62192" y="2596896"/>
            <a:ext cx="475168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Kid ↔ Parent toggle via 4-digit PIN</a:t>
            </a:r>
            <a:endParaRPr lang="en-US" sz="1180" dirty="0"/>
          </a:p>
          <a:p>
            <a:pPr marL="190500" indent="-1905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Subscription status, expiry &amp; renew</a:t>
            </a:r>
            <a:endParaRPr lang="en-US" sz="1180" dirty="0"/>
          </a:p>
          <a:p>
            <a:pPr marL="190500" indent="-1905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Buy-to-keep individual books</a:t>
            </a:r>
            <a:endParaRPr lang="en-US" sz="1180" dirty="0"/>
          </a:p>
          <a:p>
            <a:pPr marL="190500" indent="-1905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Owned library survives cancellation</a:t>
            </a:r>
            <a:endParaRPr lang="en-US" sz="1180" dirty="0"/>
          </a:p>
        </p:txBody>
      </p:sp>
      <p:sp>
        <p:nvSpPr>
          <p:cNvPr id="15" name="Shape 11"/>
          <p:cNvSpPr/>
          <p:nvPr/>
        </p:nvSpPr>
        <p:spPr>
          <a:xfrm>
            <a:off x="548640" y="3986784"/>
            <a:ext cx="5410048" cy="2084832"/>
          </a:xfrm>
          <a:prstGeom prst="roundRect">
            <a:avLst>
              <a:gd name="adj" fmla="val 7018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" y="4261104"/>
            <a:ext cx="548640" cy="548640"/>
          </a:xfrm>
          <a:prstGeom prst="ellipse">
            <a:avLst/>
          </a:prstGeom>
          <a:solidFill>
            <a:srgbClr val="FFC93C"/>
          </a:solidFill>
          <a:ln/>
          <a:effectLst>
            <a:outerShdw sx="100000" sy="100000" kx="0" ky="0" algn="bl" rotWithShape="0" blurRad="63500" dist="25400" dir="5400000">
              <a:srgbClr val="3A2E28">
                <a:alpha val="13000"/>
              </a:srgbClr>
            </a:outerShdw>
          </a:effectLst>
        </p:spPr>
      </p:sp>
      <p:pic>
        <p:nvPicPr>
          <p:cNvPr id="17" name="Image 2" descr="/home/rayhanyovi/Documents/Projects/storybook/deck/icons/creditC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4403750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17904" y="4261104"/>
            <a:ext cx="431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Checkout · mock Stripe-style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77824" y="4919472"/>
            <a:ext cx="475168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Pre-filled demo card, test-mode badge</a:t>
            </a:r>
            <a:endParaRPr lang="en-US" sz="1180" dirty="0"/>
          </a:p>
          <a:p>
            <a:pPr marL="190500" indent="-1905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“Simulate declined card” failure path</a:t>
            </a:r>
            <a:endParaRPr lang="en-US" sz="1180" dirty="0"/>
          </a:p>
          <a:p>
            <a:pPr marL="190500" indent="-1905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Confetti + toast on success</a:t>
            </a:r>
            <a:endParaRPr lang="en-US" sz="1180" dirty="0"/>
          </a:p>
          <a:p>
            <a:pPr marL="190500" indent="-1905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Handles purchase &amp; subscription types</a:t>
            </a:r>
            <a:endParaRPr lang="en-US" sz="1180" dirty="0"/>
          </a:p>
        </p:txBody>
      </p:sp>
      <p:sp>
        <p:nvSpPr>
          <p:cNvPr id="20" name="Shape 15"/>
          <p:cNvSpPr/>
          <p:nvPr/>
        </p:nvSpPr>
        <p:spPr>
          <a:xfrm>
            <a:off x="6233008" y="3986784"/>
            <a:ext cx="5410048" cy="2084832"/>
          </a:xfrm>
          <a:prstGeom prst="roundRect">
            <a:avLst>
              <a:gd name="adj" fmla="val 7018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25616" y="4261104"/>
            <a:ext cx="548640" cy="548640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63500" dist="25400" dir="5400000">
              <a:srgbClr val="3A2E28">
                <a:alpha val="13000"/>
              </a:srgbClr>
            </a:outerShdw>
          </a:effectLst>
        </p:spPr>
      </p:sp>
      <p:pic>
        <p:nvPicPr>
          <p:cNvPr id="22" name="Image 3" descr="/home/rayhanyovi/Documents/Projects/storybook/deck/icons/sliders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262" y="4403750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02272" y="4261104"/>
            <a:ext cx="431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Admin surface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562192" y="4919472"/>
            <a:ext cx="475168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Full catalog CRUD + soft archive</a:t>
            </a:r>
            <a:endParaRPr lang="en-US" sz="1180" dirty="0"/>
          </a:p>
          <a:p>
            <a:pPr marL="190500" indent="-1905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Slide-based content editor (cover → pages)</a:t>
            </a:r>
            <a:endParaRPr lang="en-US" sz="1180" dirty="0"/>
          </a:p>
          <a:p>
            <a:pPr marL="190500" indent="-1905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Per-page text with character counter</a:t>
            </a:r>
            <a:endParaRPr lang="en-US" sz="1180" dirty="0"/>
          </a:p>
          <a:p>
            <a:pPr marL="190500" indent="-1905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Draft → Published → Archived lifecycle</a:t>
            </a:r>
            <a:endParaRPr lang="en-US" sz="1180" dirty="0"/>
          </a:p>
        </p:txBody>
      </p:sp>
      <p:sp>
        <p:nvSpPr>
          <p:cNvPr id="25" name="Text 19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Storybook</a:t>
            </a:r>
            <a:pPr algn="l" indent="0" marL="0">
              <a:buNone/>
            </a:pPr>
            <a:r>
              <a:rPr lang="en-US" sz="90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Product &amp; Engineering Submission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558503" cy="310896"/>
          </a:xfrm>
          <a:prstGeom prst="roundRect">
            <a:avLst>
              <a:gd name="adj" fmla="val 50000"/>
            </a:avLst>
          </a:prstGeom>
          <a:solidFill>
            <a:srgbClr val="FF7B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155850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ACCESS CONTROL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One function, strict priority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663440" cy="658368"/>
          </a:xfrm>
          <a:prstGeom prst="roundRect">
            <a:avLst>
              <a:gd name="adj" fmla="val 18056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63500" dist="25400" dir="5400000">
              <a:srgbClr val="3A2E28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4944" y="1819656"/>
            <a:ext cx="402336" cy="402336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7" name="Image 0" descr="/home/rayhanyovi/Documents/Projects/storybook/deck/icons/userCo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598" y="1932310"/>
            <a:ext cx="177028" cy="1770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74650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ADMIN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880360" y="1746504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Always full access — before any DB check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932688" y="230428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CE0CE"/>
                </a:solidFill>
              </a:rPr>
              <a:t>▼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48640" y="2459736"/>
            <a:ext cx="4663440" cy="658368"/>
          </a:xfrm>
          <a:prstGeom prst="roundRect">
            <a:avLst>
              <a:gd name="adj" fmla="val 18056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63500" dist="25400" dir="5400000">
              <a:srgbClr val="3A2E28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94944" y="2587752"/>
            <a:ext cx="402336" cy="402336"/>
          </a:xfrm>
          <a:prstGeom prst="ellipse">
            <a:avLst/>
          </a:prstGeom>
          <a:solidFill>
            <a:srgbClr val="7BC950"/>
          </a:solidFill>
          <a:ln/>
        </p:spPr>
      </p:sp>
      <p:pic>
        <p:nvPicPr>
          <p:cNvPr id="13" name="Image 1" descr="/home/rayhanyovi/Documents/Projects/storybook/deck/icons/gif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98" y="2700406"/>
            <a:ext cx="177028" cy="1770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514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FREE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88036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priceCents === 0 → always readable</a:t>
            </a:r>
            <a:endParaRPr lang="en-US" sz="1030" dirty="0"/>
          </a:p>
        </p:txBody>
      </p:sp>
      <p:sp>
        <p:nvSpPr>
          <p:cNvPr id="16" name="Text 12"/>
          <p:cNvSpPr/>
          <p:nvPr/>
        </p:nvSpPr>
        <p:spPr>
          <a:xfrm>
            <a:off x="932688" y="307238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CE0CE"/>
                </a:solidFill>
              </a:rPr>
              <a:t>▼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48640" y="3227832"/>
            <a:ext cx="4663440" cy="658368"/>
          </a:xfrm>
          <a:prstGeom prst="roundRect">
            <a:avLst>
              <a:gd name="adj" fmla="val 18056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63500" dist="25400" dir="5400000">
              <a:srgbClr val="3A2E28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4944" y="3355848"/>
            <a:ext cx="402336" cy="402336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9" name="Image 2" descr="/home/rayhanyovi/Documents/Projects/storybook/deck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598" y="3468502"/>
            <a:ext cx="177028" cy="17702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328269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OWNED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2880360" y="3282696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Has a Purchase record for this book</a:t>
            </a:r>
            <a:endParaRPr lang="en-US" sz="1030" dirty="0"/>
          </a:p>
        </p:txBody>
      </p:sp>
      <p:sp>
        <p:nvSpPr>
          <p:cNvPr id="22" name="Text 17"/>
          <p:cNvSpPr/>
          <p:nvPr/>
        </p:nvSpPr>
        <p:spPr>
          <a:xfrm>
            <a:off x="932688" y="38404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CE0CE"/>
                </a:solidFill>
              </a:rPr>
              <a:t>▼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548640" y="3995928"/>
            <a:ext cx="4663440" cy="658368"/>
          </a:xfrm>
          <a:prstGeom prst="roundRect">
            <a:avLst>
              <a:gd name="adj" fmla="val 18056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63500" dist="25400" dir="5400000">
              <a:srgbClr val="3A2E28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94944" y="4123944"/>
            <a:ext cx="402336" cy="402336"/>
          </a:xfrm>
          <a:prstGeom prst="ellipse">
            <a:avLst/>
          </a:prstGeom>
          <a:solidFill>
            <a:srgbClr val="4CB9E7"/>
          </a:solidFill>
          <a:ln/>
        </p:spPr>
      </p:sp>
      <p:pic>
        <p:nvPicPr>
          <p:cNvPr id="25" name="Image 3" descr="/home/rayhanyovi/Documents/Projects/storybook/deck/icons/sync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598" y="4236598"/>
            <a:ext cx="177028" cy="17702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71600" y="40507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SUBSCRIPTION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2880360" y="405079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Active, non-expired subscription</a:t>
            </a:r>
            <a:endParaRPr lang="en-US" sz="1030" dirty="0"/>
          </a:p>
        </p:txBody>
      </p:sp>
      <p:sp>
        <p:nvSpPr>
          <p:cNvPr id="28" name="Text 22"/>
          <p:cNvSpPr/>
          <p:nvPr/>
        </p:nvSpPr>
        <p:spPr>
          <a:xfrm>
            <a:off x="932688" y="460857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CE0CE"/>
                </a:solidFill>
              </a:rPr>
              <a:t>▼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548640" y="4764024"/>
            <a:ext cx="4663440" cy="658368"/>
          </a:xfrm>
          <a:prstGeom prst="roundRect">
            <a:avLst>
              <a:gd name="adj" fmla="val 18056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63500" dist="25400" dir="5400000">
              <a:srgbClr val="3A2E28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94944" y="4892040"/>
            <a:ext cx="402336" cy="402336"/>
          </a:xfrm>
          <a:prstGeom prst="ellipse">
            <a:avLst/>
          </a:prstGeom>
          <a:solidFill>
            <a:srgbClr val="8A7A6D"/>
          </a:solidFill>
          <a:ln/>
        </p:spPr>
      </p:sp>
      <p:pic>
        <p:nvPicPr>
          <p:cNvPr id="31" name="Image 4" descr="/home/rayhanyovi/Documents/Projects/storybook/deck/icons/lo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598" y="5004694"/>
            <a:ext cx="177028" cy="17702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371600" y="481888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LOCKED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2880360" y="481888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None of the above</a:t>
            </a:r>
            <a:endParaRPr lang="en-US" sz="1030" dirty="0"/>
          </a:p>
        </p:txBody>
      </p:sp>
      <p:sp>
        <p:nvSpPr>
          <p:cNvPr id="34" name="Shape 27"/>
          <p:cNvSpPr/>
          <p:nvPr/>
        </p:nvSpPr>
        <p:spPr>
          <a:xfrm>
            <a:off x="5623560" y="1691640"/>
            <a:ext cx="6019495" cy="3310128"/>
          </a:xfrm>
          <a:prstGeom prst="roundRect">
            <a:avLst>
              <a:gd name="adj" fmla="val 4420"/>
            </a:avLst>
          </a:prstGeom>
          <a:solidFill>
            <a:srgbClr val="2A211C"/>
          </a:solidFill>
          <a:ln/>
          <a:effectLst>
            <a:outerShdw sx="100000" sy="100000" kx="0" ky="0" algn="bl" rotWithShape="0" blurRad="114300" dist="38100" dir="5400000">
              <a:srgbClr val="3A2E28">
                <a:alpha val="16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5897880" y="1892808"/>
            <a:ext cx="5470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7A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access.service.ts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5897880" y="2258568"/>
            <a:ext cx="5470855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FF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FFC9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resolveAccess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F3E3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(user, book) {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F3E3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(user.role === 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BC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'ADMIN'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F3E3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return 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F3E3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F3E3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(book.priceCents === 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F3E3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return 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BC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F3E3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F3E3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(await ownsBook(...))     return 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OWNED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F3E3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F3E3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(await hasActiveSub(...)) return 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CB9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SUBSCRIPTION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F3E3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F3E3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8A7A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LOCKED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F3E3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F3E3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pic>
        <p:nvPicPr>
          <p:cNvPr id="37" name="Image 5" descr="/home/rayhanyovi/Documents/Projects/storybook/deck/assets/oyen_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5120640"/>
            <a:ext cx="1005611" cy="1143000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6766560" y="5148072"/>
            <a:ext cx="4876495" cy="1051560"/>
          </a:xfrm>
          <a:prstGeom prst="roundRect">
            <a:avLst>
              <a:gd name="adj" fmla="val 13913"/>
            </a:avLst>
          </a:prstGeom>
          <a:solidFill>
            <a:srgbClr val="E6F4D8"/>
          </a:solidFill>
          <a:ln/>
        </p:spPr>
      </p:sp>
      <p:sp>
        <p:nvSpPr>
          <p:cNvPr id="39" name="Shape 31"/>
          <p:cNvSpPr/>
          <p:nvPr/>
        </p:nvSpPr>
        <p:spPr>
          <a:xfrm>
            <a:off x="6967728" y="5449824"/>
            <a:ext cx="457200" cy="457200"/>
          </a:xfrm>
          <a:prstGeom prst="ellipse">
            <a:avLst/>
          </a:prstGeom>
          <a:solidFill>
            <a:srgbClr val="58CC02"/>
          </a:solidFill>
          <a:ln/>
        </p:spPr>
      </p:sp>
      <p:pic>
        <p:nvPicPr>
          <p:cNvPr id="40" name="Image 6" descr="/home/rayhanyovi/Documents/Projects/storybook/deck/icons/chec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0" y="5568696"/>
            <a:ext cx="219456" cy="219456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552944" y="5148072"/>
            <a:ext cx="391637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Verified by unit test. 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OWNED short-circuits before SUBSCRIPTION — the subscription query never runs when a book is owned. 8 cases, all passing.</a:t>
            </a:r>
            <a:endParaRPr lang="en-US" sz="1250" dirty="0"/>
          </a:p>
        </p:txBody>
      </p:sp>
      <p:sp>
        <p:nvSpPr>
          <p:cNvPr id="42" name="Shape 33"/>
          <p:cNvSpPr/>
          <p:nvPr/>
        </p:nvSpPr>
        <p:spPr>
          <a:xfrm>
            <a:off x="548640" y="5623560"/>
            <a:ext cx="4663440" cy="566928"/>
          </a:xfrm>
          <a:prstGeom prst="roundRect">
            <a:avLst>
              <a:gd name="adj" fmla="val 25806"/>
            </a:avLst>
          </a:prstGeom>
          <a:solidFill>
            <a:srgbClr val="F3E9D8"/>
          </a:solidFill>
          <a:ln/>
        </p:spPr>
      </p:sp>
      <p:sp>
        <p:nvSpPr>
          <p:cNvPr id="43" name="Shape 34"/>
          <p:cNvSpPr/>
          <p:nvPr/>
        </p:nvSpPr>
        <p:spPr>
          <a:xfrm>
            <a:off x="713232" y="5724144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44" name="Image 7" descr="/home/rayhanyovi/Documents/Projects/storybook/deck/icons/shield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330" y="5819242"/>
            <a:ext cx="175565" cy="175565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1225296" y="5623560"/>
            <a:ext cx="3822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Frontend mirrors it in two layers — route guards + a component-level PIN gate.</a:t>
            </a:r>
            <a:endParaRPr lang="en-US" sz="1100" dirty="0"/>
          </a:p>
        </p:txBody>
      </p:sp>
      <p:sp>
        <p:nvSpPr>
          <p:cNvPr id="46" name="Text 36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Storybook</a:t>
            </a:r>
            <a:pPr algn="l" indent="0" marL="0">
              <a:buNone/>
            </a:pPr>
            <a:r>
              <a:rPr lang="en-US" sz="90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Product &amp; Engineering Submission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72001" cy="310896"/>
          </a:xfrm>
          <a:prstGeom prst="roundRect">
            <a:avLst>
              <a:gd name="adj" fmla="val 50000"/>
            </a:avLst>
          </a:prstGeom>
          <a:solidFill>
            <a:srgbClr val="FF7B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147200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HARD PART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Edge cases we actually solved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2595296" cy="4526280"/>
          </a:xfrm>
          <a:prstGeom prst="roundRect">
            <a:avLst>
              <a:gd name="adj" fmla="val 5637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64208"/>
            <a:ext cx="2595296" cy="877824"/>
          </a:xfrm>
          <a:prstGeom prst="roundRect">
            <a:avLst>
              <a:gd name="adj" fmla="val 16667"/>
            </a:avLst>
          </a:prstGeom>
          <a:solidFill>
            <a:srgbClr val="FF7B5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21408"/>
            <a:ext cx="2595296" cy="420624"/>
          </a:xfrm>
          <a:prstGeom prst="rectangle">
            <a:avLst/>
          </a:prstGeom>
          <a:solidFill>
            <a:srgbClr val="FF7B54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86537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/home/rayhanyovi/Documents/Projects/storybook/deck/icons/exchange_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435" y="1989003"/>
            <a:ext cx="228234" cy="22823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98448" y="1865376"/>
            <a:ext cx="177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Entitlement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49808" y="2779776"/>
            <a:ext cx="292608" cy="292608"/>
          </a:xfrm>
          <a:prstGeom prst="ellipse">
            <a:avLst/>
          </a:prstGeom>
          <a:solidFill>
            <a:srgbClr val="FF7B54"/>
          </a:solidFill>
          <a:ln/>
        </p:spPr>
      </p:sp>
      <p:pic>
        <p:nvPicPr>
          <p:cNvPr id="12" name="Image 1" descr="/home/rayhanyovi/Documents/Projects/storybook/deck/icons/checkPl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34" y="2850002"/>
            <a:ext cx="152156" cy="1521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15568" y="2743200"/>
            <a:ext cx="188206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8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Sub expires mid-session</a:t>
            </a:r>
            <a:endParaRPr lang="en-US" sz="1180" dirty="0"/>
          </a:p>
        </p:txBody>
      </p:sp>
      <p:sp>
        <p:nvSpPr>
          <p:cNvPr id="14" name="Text 10"/>
          <p:cNvSpPr/>
          <p:nvPr/>
        </p:nvSpPr>
        <p:spPr>
          <a:xfrm>
            <a:off x="1115568" y="3182112"/>
            <a:ext cx="184548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2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Read completes; lock applies on next open</a:t>
            </a:r>
            <a:endParaRPr lang="en-US" sz="1020" dirty="0"/>
          </a:p>
        </p:txBody>
      </p:sp>
      <p:sp>
        <p:nvSpPr>
          <p:cNvPr id="15" name="Shape 11"/>
          <p:cNvSpPr/>
          <p:nvPr/>
        </p:nvSpPr>
        <p:spPr>
          <a:xfrm>
            <a:off x="749808" y="3895344"/>
            <a:ext cx="292608" cy="292608"/>
          </a:xfrm>
          <a:prstGeom prst="ellipse">
            <a:avLst/>
          </a:prstGeom>
          <a:solidFill>
            <a:srgbClr val="FF7B54"/>
          </a:solidFill>
          <a:ln/>
        </p:spPr>
      </p:sp>
      <p:pic>
        <p:nvPicPr>
          <p:cNvPr id="16" name="Image 2" descr="/home/rayhanyovi/Documents/Projects/storybook/deck/icons/checkPl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34" y="3965570"/>
            <a:ext cx="152156" cy="1521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15568" y="3858768"/>
            <a:ext cx="188206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8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Owned + subscribed</a:t>
            </a:r>
            <a:endParaRPr lang="en-US" sz="1180" dirty="0"/>
          </a:p>
        </p:txBody>
      </p:sp>
      <p:sp>
        <p:nvSpPr>
          <p:cNvPr id="18" name="Text 13"/>
          <p:cNvSpPr/>
          <p:nvPr/>
        </p:nvSpPr>
        <p:spPr>
          <a:xfrm>
            <a:off x="1115568" y="4297680"/>
            <a:ext cx="184548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2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Shows OWNED, not subscription</a:t>
            </a:r>
            <a:endParaRPr lang="en-US" sz="1020" dirty="0"/>
          </a:p>
        </p:txBody>
      </p:sp>
      <p:sp>
        <p:nvSpPr>
          <p:cNvPr id="19" name="Shape 14"/>
          <p:cNvSpPr/>
          <p:nvPr/>
        </p:nvSpPr>
        <p:spPr>
          <a:xfrm>
            <a:off x="749808" y="5010912"/>
            <a:ext cx="292608" cy="292608"/>
          </a:xfrm>
          <a:prstGeom prst="ellipse">
            <a:avLst/>
          </a:prstGeom>
          <a:solidFill>
            <a:srgbClr val="FF7B54"/>
          </a:solidFill>
          <a:ln/>
        </p:spPr>
      </p:sp>
      <p:pic>
        <p:nvPicPr>
          <p:cNvPr id="20" name="Image 3" descr="/home/rayhanyovi/Documents/Projects/storybook/deck/icons/checkPlai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034" y="5081138"/>
            <a:ext cx="152156" cy="1521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15568" y="4974336"/>
            <a:ext cx="188206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8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Sub lapses</a:t>
            </a:r>
            <a:endParaRPr lang="en-US" sz="1180" dirty="0"/>
          </a:p>
        </p:txBody>
      </p:sp>
      <p:sp>
        <p:nvSpPr>
          <p:cNvPr id="22" name="Text 16"/>
          <p:cNvSpPr/>
          <p:nvPr/>
        </p:nvSpPr>
        <p:spPr>
          <a:xfrm>
            <a:off x="1115568" y="5413248"/>
            <a:ext cx="184548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2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Falls back to owned books only</a:t>
            </a:r>
            <a:endParaRPr lang="en-US" sz="1020" dirty="0"/>
          </a:p>
        </p:txBody>
      </p:sp>
      <p:sp>
        <p:nvSpPr>
          <p:cNvPr id="23" name="Shape 17"/>
          <p:cNvSpPr/>
          <p:nvPr/>
        </p:nvSpPr>
        <p:spPr>
          <a:xfrm>
            <a:off x="3381680" y="1664208"/>
            <a:ext cx="2595296" cy="4526280"/>
          </a:xfrm>
          <a:prstGeom prst="roundRect">
            <a:avLst>
              <a:gd name="adj" fmla="val 5637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381680" y="1664208"/>
            <a:ext cx="2595296" cy="877824"/>
          </a:xfrm>
          <a:prstGeom prst="roundRect">
            <a:avLst>
              <a:gd name="adj" fmla="val 16667"/>
            </a:avLst>
          </a:prstGeom>
          <a:solidFill>
            <a:srgbClr val="FFC93C"/>
          </a:solidFill>
          <a:ln/>
        </p:spPr>
      </p:sp>
      <p:sp>
        <p:nvSpPr>
          <p:cNvPr id="25" name="Shape 19"/>
          <p:cNvSpPr/>
          <p:nvPr/>
        </p:nvSpPr>
        <p:spPr>
          <a:xfrm>
            <a:off x="3381680" y="2121408"/>
            <a:ext cx="2595296" cy="420624"/>
          </a:xfrm>
          <a:prstGeom prst="rectangle">
            <a:avLst/>
          </a:prstGeom>
          <a:solidFill>
            <a:srgbClr val="FFC93C"/>
          </a:solidFill>
          <a:ln/>
        </p:spPr>
      </p:sp>
      <p:sp>
        <p:nvSpPr>
          <p:cNvPr id="26" name="Shape 20"/>
          <p:cNvSpPr/>
          <p:nvPr/>
        </p:nvSpPr>
        <p:spPr>
          <a:xfrm>
            <a:off x="3582848" y="186537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/home/rayhanyovi/Documents/Projects/storybook/deck/icons/creditCard_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6475" y="1989003"/>
            <a:ext cx="228234" cy="22823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131488" y="1865376"/>
            <a:ext cx="177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Payment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3582848" y="2779776"/>
            <a:ext cx="292608" cy="292608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30" name="Image 5" descr="/home/rayhanyovi/Documents/Projects/storybook/deck/icons/checkPlain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3074" y="2850002"/>
            <a:ext cx="152156" cy="15215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948608" y="2743200"/>
            <a:ext cx="188206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8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Duplicate purchase</a:t>
            </a:r>
            <a:endParaRPr lang="en-US" sz="1180" dirty="0"/>
          </a:p>
        </p:txBody>
      </p:sp>
      <p:sp>
        <p:nvSpPr>
          <p:cNvPr id="32" name="Text 24"/>
          <p:cNvSpPr/>
          <p:nvPr/>
        </p:nvSpPr>
        <p:spPr>
          <a:xfrm>
            <a:off x="3948608" y="3182112"/>
            <a:ext cx="184548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2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Idempotent — returns existing record</a:t>
            </a:r>
            <a:endParaRPr lang="en-US" sz="1020" dirty="0"/>
          </a:p>
        </p:txBody>
      </p:sp>
      <p:sp>
        <p:nvSpPr>
          <p:cNvPr id="33" name="Shape 25"/>
          <p:cNvSpPr/>
          <p:nvPr/>
        </p:nvSpPr>
        <p:spPr>
          <a:xfrm>
            <a:off x="3582848" y="3895344"/>
            <a:ext cx="292608" cy="292608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34" name="Image 6" descr="/home/rayhanyovi/Documents/Projects/storybook/deck/icons/checkPlain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3074" y="3965570"/>
            <a:ext cx="152156" cy="15215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3948608" y="3858768"/>
            <a:ext cx="188206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8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Declined card</a:t>
            </a:r>
            <a:endParaRPr lang="en-US" sz="1180" dirty="0"/>
          </a:p>
        </p:txBody>
      </p:sp>
      <p:sp>
        <p:nvSpPr>
          <p:cNvPr id="36" name="Text 27"/>
          <p:cNvSpPr/>
          <p:nvPr/>
        </p:nvSpPr>
        <p:spPr>
          <a:xfrm>
            <a:off x="3948608" y="4297680"/>
            <a:ext cx="184548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2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Ledger logs FAILED; nothing unlocks</a:t>
            </a:r>
            <a:endParaRPr lang="en-US" sz="1020" dirty="0"/>
          </a:p>
        </p:txBody>
      </p:sp>
      <p:sp>
        <p:nvSpPr>
          <p:cNvPr id="37" name="Shape 28"/>
          <p:cNvSpPr/>
          <p:nvPr/>
        </p:nvSpPr>
        <p:spPr>
          <a:xfrm>
            <a:off x="3582848" y="5010912"/>
            <a:ext cx="292608" cy="292608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38" name="Image 7" descr="/home/rayhanyovi/Documents/Projects/storybook/deck/icons/checkPlain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3074" y="5081138"/>
            <a:ext cx="152156" cy="152156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3948608" y="4974336"/>
            <a:ext cx="188206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8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Retry / double-charge</a:t>
            </a:r>
            <a:endParaRPr lang="en-US" sz="1180" dirty="0"/>
          </a:p>
        </p:txBody>
      </p:sp>
      <p:sp>
        <p:nvSpPr>
          <p:cNvPr id="40" name="Text 30"/>
          <p:cNvSpPr/>
          <p:nvPr/>
        </p:nvSpPr>
        <p:spPr>
          <a:xfrm>
            <a:off x="3948608" y="5413248"/>
            <a:ext cx="184548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2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Blocked by idempotencyKey</a:t>
            </a:r>
            <a:endParaRPr lang="en-US" sz="1020" dirty="0"/>
          </a:p>
        </p:txBody>
      </p:sp>
      <p:sp>
        <p:nvSpPr>
          <p:cNvPr id="41" name="Shape 31"/>
          <p:cNvSpPr/>
          <p:nvPr/>
        </p:nvSpPr>
        <p:spPr>
          <a:xfrm>
            <a:off x="6214720" y="1664208"/>
            <a:ext cx="2595296" cy="4526280"/>
          </a:xfrm>
          <a:prstGeom prst="roundRect">
            <a:avLst>
              <a:gd name="adj" fmla="val 5637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0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6214720" y="1664208"/>
            <a:ext cx="2595296" cy="877824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/>
        </p:spPr>
      </p:sp>
      <p:sp>
        <p:nvSpPr>
          <p:cNvPr id="43" name="Shape 33"/>
          <p:cNvSpPr/>
          <p:nvPr/>
        </p:nvSpPr>
        <p:spPr>
          <a:xfrm>
            <a:off x="6214720" y="2121408"/>
            <a:ext cx="2595296" cy="420624"/>
          </a:xfrm>
          <a:prstGeom prst="rectangle">
            <a:avLst/>
          </a:prstGeom>
          <a:solidFill>
            <a:srgbClr val="2EC4B6"/>
          </a:solidFill>
          <a:ln/>
        </p:spPr>
      </p:sp>
      <p:sp>
        <p:nvSpPr>
          <p:cNvPr id="44" name="Shape 34"/>
          <p:cNvSpPr/>
          <p:nvPr/>
        </p:nvSpPr>
        <p:spPr>
          <a:xfrm>
            <a:off x="6415888" y="186537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5" name="Image 8" descr="/home/rayhanyovi/Documents/Projects/storybook/deck/icons/hourglass_in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9514" y="1989003"/>
            <a:ext cx="228234" cy="228234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6964528" y="1865376"/>
            <a:ext cx="177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Lifecycle</a:t>
            </a:r>
            <a:endParaRPr lang="en-US" sz="1500" dirty="0"/>
          </a:p>
        </p:txBody>
      </p:sp>
      <p:sp>
        <p:nvSpPr>
          <p:cNvPr id="47" name="Shape 36"/>
          <p:cNvSpPr/>
          <p:nvPr/>
        </p:nvSpPr>
        <p:spPr>
          <a:xfrm>
            <a:off x="6415888" y="2779776"/>
            <a:ext cx="292608" cy="29260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48" name="Image 9" descr="/home/rayhanyovi/Documents/Projects/storybook/deck/icons/checkPlain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6114" y="2850002"/>
            <a:ext cx="152156" cy="152156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6781648" y="2743200"/>
            <a:ext cx="188206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8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Book archived after buy</a:t>
            </a:r>
            <a:endParaRPr lang="en-US" sz="1180" dirty="0"/>
          </a:p>
        </p:txBody>
      </p:sp>
      <p:sp>
        <p:nvSpPr>
          <p:cNvPr id="50" name="Text 38"/>
          <p:cNvSpPr/>
          <p:nvPr/>
        </p:nvSpPr>
        <p:spPr>
          <a:xfrm>
            <a:off x="6781648" y="3182112"/>
            <a:ext cx="184548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2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Still readable for the owner</a:t>
            </a:r>
            <a:endParaRPr lang="en-US" sz="1020" dirty="0"/>
          </a:p>
        </p:txBody>
      </p:sp>
      <p:sp>
        <p:nvSpPr>
          <p:cNvPr id="51" name="Shape 39"/>
          <p:cNvSpPr/>
          <p:nvPr/>
        </p:nvSpPr>
        <p:spPr>
          <a:xfrm>
            <a:off x="6415888" y="3895344"/>
            <a:ext cx="292608" cy="29260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52" name="Image 10" descr="/home/rayhanyovi/Documents/Projects/storybook/deck/icons/checkPlain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86114" y="3965570"/>
            <a:ext cx="152156" cy="152156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6781648" y="3858768"/>
            <a:ext cx="188206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8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Archived for everyone else</a:t>
            </a:r>
            <a:endParaRPr lang="en-US" sz="1180" dirty="0"/>
          </a:p>
        </p:txBody>
      </p:sp>
      <p:sp>
        <p:nvSpPr>
          <p:cNvPr id="54" name="Text 41"/>
          <p:cNvSpPr/>
          <p:nvPr/>
        </p:nvSpPr>
        <p:spPr>
          <a:xfrm>
            <a:off x="6781648" y="4297680"/>
            <a:ext cx="184548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2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Invisible in catalog</a:t>
            </a:r>
            <a:endParaRPr lang="en-US" sz="1020" dirty="0"/>
          </a:p>
        </p:txBody>
      </p:sp>
      <p:sp>
        <p:nvSpPr>
          <p:cNvPr id="55" name="Shape 42"/>
          <p:cNvSpPr/>
          <p:nvPr/>
        </p:nvSpPr>
        <p:spPr>
          <a:xfrm>
            <a:off x="6415888" y="5010912"/>
            <a:ext cx="292608" cy="29260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56" name="Image 11" descr="/home/rayhanyovi/Documents/Projects/storybook/deck/icons/checkPlain_whi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6114" y="5081138"/>
            <a:ext cx="152156" cy="152156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6781648" y="4974336"/>
            <a:ext cx="188206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8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Soft-delete</a:t>
            </a:r>
            <a:endParaRPr lang="en-US" sz="1180" dirty="0"/>
          </a:p>
        </p:txBody>
      </p:sp>
      <p:sp>
        <p:nvSpPr>
          <p:cNvPr id="58" name="Text 44"/>
          <p:cNvSpPr/>
          <p:nvPr/>
        </p:nvSpPr>
        <p:spPr>
          <a:xfrm>
            <a:off x="6781648" y="5413248"/>
            <a:ext cx="184548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2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ARCHIVED preserves ownership history</a:t>
            </a:r>
            <a:endParaRPr lang="en-US" sz="1020" dirty="0"/>
          </a:p>
        </p:txBody>
      </p:sp>
      <p:sp>
        <p:nvSpPr>
          <p:cNvPr id="59" name="Shape 45"/>
          <p:cNvSpPr/>
          <p:nvPr/>
        </p:nvSpPr>
        <p:spPr>
          <a:xfrm>
            <a:off x="9047759" y="1664208"/>
            <a:ext cx="2595296" cy="4526280"/>
          </a:xfrm>
          <a:prstGeom prst="roundRect">
            <a:avLst>
              <a:gd name="adj" fmla="val 5637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0000"/>
              </a:srgbClr>
            </a:outerShdw>
          </a:effectLst>
        </p:spPr>
      </p:sp>
      <p:sp>
        <p:nvSpPr>
          <p:cNvPr id="60" name="Shape 46"/>
          <p:cNvSpPr/>
          <p:nvPr/>
        </p:nvSpPr>
        <p:spPr>
          <a:xfrm>
            <a:off x="9047759" y="1664208"/>
            <a:ext cx="2595296" cy="877824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/>
        </p:spPr>
      </p:sp>
      <p:sp>
        <p:nvSpPr>
          <p:cNvPr id="61" name="Shape 47"/>
          <p:cNvSpPr/>
          <p:nvPr/>
        </p:nvSpPr>
        <p:spPr>
          <a:xfrm>
            <a:off x="9047759" y="2121408"/>
            <a:ext cx="2595296" cy="420624"/>
          </a:xfrm>
          <a:prstGeom prst="rectangle">
            <a:avLst/>
          </a:prstGeom>
          <a:solidFill>
            <a:srgbClr val="A78BFA"/>
          </a:solidFill>
          <a:ln/>
        </p:spPr>
      </p:sp>
      <p:sp>
        <p:nvSpPr>
          <p:cNvPr id="62" name="Shape 48"/>
          <p:cNvSpPr/>
          <p:nvPr/>
        </p:nvSpPr>
        <p:spPr>
          <a:xfrm>
            <a:off x="9248927" y="186537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3" name="Image 12" descr="/home/rayhanyovi/Documents/Projects/storybook/deck/icons/shield_ink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72554" y="1989003"/>
            <a:ext cx="228234" cy="228234"/>
          </a:xfrm>
          <a:prstGeom prst="rect">
            <a:avLst/>
          </a:prstGeom>
        </p:spPr>
      </p:pic>
      <p:sp>
        <p:nvSpPr>
          <p:cNvPr id="64" name="Text 49"/>
          <p:cNvSpPr/>
          <p:nvPr/>
        </p:nvSpPr>
        <p:spPr>
          <a:xfrm>
            <a:off x="9797567" y="1865376"/>
            <a:ext cx="177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Safety</a:t>
            </a:r>
            <a:endParaRPr lang="en-US" sz="1500" dirty="0"/>
          </a:p>
        </p:txBody>
      </p:sp>
      <p:sp>
        <p:nvSpPr>
          <p:cNvPr id="65" name="Shape 50"/>
          <p:cNvSpPr/>
          <p:nvPr/>
        </p:nvSpPr>
        <p:spPr>
          <a:xfrm>
            <a:off x="9248927" y="2779776"/>
            <a:ext cx="292608" cy="292608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66" name="Image 13" descr="/home/rayhanyovi/Documents/Projects/storybook/deck/icons/checkPlain_whit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19153" y="2850002"/>
            <a:ext cx="152156" cy="152156"/>
          </a:xfrm>
          <a:prstGeom prst="rect">
            <a:avLst/>
          </a:prstGeom>
        </p:spPr>
      </p:pic>
      <p:sp>
        <p:nvSpPr>
          <p:cNvPr id="67" name="Text 51"/>
          <p:cNvSpPr/>
          <p:nvPr/>
        </p:nvSpPr>
        <p:spPr>
          <a:xfrm>
            <a:off x="9614687" y="2743200"/>
            <a:ext cx="188206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8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 buy button in kid mode</a:t>
            </a:r>
            <a:endParaRPr lang="en-US" sz="1180" dirty="0"/>
          </a:p>
        </p:txBody>
      </p:sp>
      <p:sp>
        <p:nvSpPr>
          <p:cNvPr id="68" name="Text 52"/>
          <p:cNvSpPr/>
          <p:nvPr/>
        </p:nvSpPr>
        <p:spPr>
          <a:xfrm>
            <a:off x="9614687" y="3182112"/>
            <a:ext cx="184548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2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Structurally absent from the DOM</a:t>
            </a:r>
            <a:endParaRPr lang="en-US" sz="1020" dirty="0"/>
          </a:p>
        </p:txBody>
      </p:sp>
      <p:sp>
        <p:nvSpPr>
          <p:cNvPr id="69" name="Shape 53"/>
          <p:cNvSpPr/>
          <p:nvPr/>
        </p:nvSpPr>
        <p:spPr>
          <a:xfrm>
            <a:off x="9248927" y="3895344"/>
            <a:ext cx="292608" cy="292608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70" name="Image 14" descr="/home/rayhanyovi/Documents/Projects/storybook/deck/icons/checkPlain_whit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19153" y="3965570"/>
            <a:ext cx="152156" cy="152156"/>
          </a:xfrm>
          <a:prstGeom prst="rect">
            <a:avLst/>
          </a:prstGeom>
        </p:spPr>
      </p:pic>
      <p:sp>
        <p:nvSpPr>
          <p:cNvPr id="71" name="Text 54"/>
          <p:cNvSpPr/>
          <p:nvPr/>
        </p:nvSpPr>
        <p:spPr>
          <a:xfrm>
            <a:off x="9614687" y="3858768"/>
            <a:ext cx="188206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8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PIN gate</a:t>
            </a:r>
            <a:endParaRPr lang="en-US" sz="1180" dirty="0"/>
          </a:p>
        </p:txBody>
      </p:sp>
      <p:sp>
        <p:nvSpPr>
          <p:cNvPr id="72" name="Text 55"/>
          <p:cNvSpPr/>
          <p:nvPr/>
        </p:nvSpPr>
        <p:spPr>
          <a:xfrm>
            <a:off x="9614687" y="4297680"/>
            <a:ext cx="184548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2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Before parent mode &amp; every checkout</a:t>
            </a:r>
            <a:endParaRPr lang="en-US" sz="1020" dirty="0"/>
          </a:p>
        </p:txBody>
      </p:sp>
      <p:sp>
        <p:nvSpPr>
          <p:cNvPr id="73" name="Shape 56"/>
          <p:cNvSpPr/>
          <p:nvPr/>
        </p:nvSpPr>
        <p:spPr>
          <a:xfrm>
            <a:off x="9248927" y="5010912"/>
            <a:ext cx="292608" cy="292608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74" name="Image 15" descr="/home/rayhanyovi/Documents/Projects/storybook/deck/icons/checkPlain_whit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19153" y="5081138"/>
            <a:ext cx="152156" cy="152156"/>
          </a:xfrm>
          <a:prstGeom prst="rect">
            <a:avLst/>
          </a:prstGeom>
        </p:spPr>
      </p:pic>
      <p:sp>
        <p:nvSpPr>
          <p:cNvPr id="75" name="Text 57"/>
          <p:cNvSpPr/>
          <p:nvPr/>
        </p:nvSpPr>
        <p:spPr>
          <a:xfrm>
            <a:off x="9614687" y="4974336"/>
            <a:ext cx="188206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8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Defense in depth</a:t>
            </a:r>
            <a:endParaRPr lang="en-US" sz="1180" dirty="0"/>
          </a:p>
        </p:txBody>
      </p:sp>
      <p:sp>
        <p:nvSpPr>
          <p:cNvPr id="76" name="Text 58"/>
          <p:cNvSpPr/>
          <p:nvPr/>
        </p:nvSpPr>
        <p:spPr>
          <a:xfrm>
            <a:off x="9614687" y="5413248"/>
            <a:ext cx="184548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2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single failure = unwanted buy</a:t>
            </a:r>
            <a:endParaRPr lang="en-US" sz="1020" dirty="0"/>
          </a:p>
        </p:txBody>
      </p:sp>
      <p:sp>
        <p:nvSpPr>
          <p:cNvPr id="77" name="Text 59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Storybook</a:t>
            </a:r>
            <a:pPr algn="l" indent="0" marL="0">
              <a:buNone/>
            </a:pPr>
            <a:r>
              <a:rPr lang="en-US" sz="90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Product &amp; Engineering Submission</a:t>
            </a:r>
            <a:endParaRPr lang="en-US" sz="900" dirty="0"/>
          </a:p>
        </p:txBody>
      </p:sp>
      <p:sp>
        <p:nvSpPr>
          <p:cNvPr id="78" name="Text 60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72001" cy="310896"/>
          </a:xfrm>
          <a:prstGeom prst="roundRect">
            <a:avLst>
              <a:gd name="adj" fmla="val 50000"/>
            </a:avLst>
          </a:prstGeom>
          <a:solidFill>
            <a:srgbClr val="FF7B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147200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 pnpm monorepo with shared contracts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3200400" cy="2194560"/>
          </a:xfrm>
          <a:prstGeom prst="roundRect">
            <a:avLst>
              <a:gd name="adj" fmla="val 6667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11680"/>
            <a:ext cx="3200400" cy="841248"/>
          </a:xfrm>
          <a:prstGeom prst="roundRect">
            <a:avLst>
              <a:gd name="adj" fmla="val 17391"/>
            </a:avLst>
          </a:prstGeom>
          <a:solidFill>
            <a:srgbClr val="2EC4B6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432304"/>
            <a:ext cx="3200400" cy="420624"/>
          </a:xfrm>
          <a:prstGeom prst="rectangle">
            <a:avLst/>
          </a:prstGeom>
          <a:solidFill>
            <a:srgbClr val="2EC4B6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22128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/home/rayhanyovi/Documents/Projects/storybook/deck/icons/react_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331720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9344" y="22128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apps/web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33856" y="2980944"/>
            <a:ext cx="257860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React 19 + Vite 8</a:t>
            </a:r>
            <a:endParaRPr lang="en-US" sz="1200" dirty="0"/>
          </a:p>
          <a:p>
            <a:pPr marL="165100" indent="-1651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TanStack Query v5</a:t>
            </a:r>
            <a:endParaRPr lang="en-US" sz="1200" dirty="0"/>
          </a:p>
          <a:p>
            <a:pPr marL="165100" indent="-1651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Tailwind v4 · shadcn/ui</a:t>
            </a:r>
            <a:endParaRPr lang="en-US" sz="1200" dirty="0"/>
          </a:p>
          <a:p>
            <a:pPr marL="165100" indent="-1651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Framer Motion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74920" y="2011680"/>
            <a:ext cx="3200400" cy="2194560"/>
          </a:xfrm>
          <a:prstGeom prst="roundRect">
            <a:avLst>
              <a:gd name="adj" fmla="val 6667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74920" y="2011680"/>
            <a:ext cx="3200400" cy="841248"/>
          </a:xfrm>
          <a:prstGeom prst="roundRect">
            <a:avLst>
              <a:gd name="adj" fmla="val 17391"/>
            </a:avLst>
          </a:prstGeom>
          <a:solidFill>
            <a:srgbClr val="FF7B54"/>
          </a:solidFill>
          <a:ln/>
        </p:spPr>
      </p:sp>
      <p:sp>
        <p:nvSpPr>
          <p:cNvPr id="14" name="Shape 11"/>
          <p:cNvSpPr/>
          <p:nvPr/>
        </p:nvSpPr>
        <p:spPr>
          <a:xfrm>
            <a:off x="5074920" y="2432304"/>
            <a:ext cx="3200400" cy="420624"/>
          </a:xfrm>
          <a:prstGeom prst="rectangle">
            <a:avLst/>
          </a:prstGeom>
          <a:solidFill>
            <a:srgbClr val="FF7B54"/>
          </a:solidFill>
          <a:ln/>
        </p:spPr>
      </p:sp>
      <p:sp>
        <p:nvSpPr>
          <p:cNvPr id="15" name="Shape 12"/>
          <p:cNvSpPr/>
          <p:nvPr/>
        </p:nvSpPr>
        <p:spPr>
          <a:xfrm>
            <a:off x="5312664" y="22128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/home/rayhanyovi/Documents/Projects/storybook/deck/icons/server_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536" y="2331720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861304" y="22128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apps/api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385816" y="2980944"/>
            <a:ext cx="257860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Express 5 + TypeScript</a:t>
            </a:r>
            <a:endParaRPr lang="en-US" sz="1200" dirty="0"/>
          </a:p>
          <a:p>
            <a:pPr marL="165100" indent="-1651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Prisma 5 → PostgreSQL</a:t>
            </a:r>
            <a:endParaRPr lang="en-US" sz="1200" dirty="0"/>
          </a:p>
          <a:p>
            <a:pPr marL="165100" indent="-1651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JWT + bcrypt · Zod</a:t>
            </a:r>
            <a:endParaRPr lang="en-US" sz="1200" dirty="0"/>
          </a:p>
          <a:p>
            <a:pPr marL="165100" indent="-1651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Vitest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2948940" y="4709160"/>
            <a:ext cx="3200400" cy="1417320"/>
          </a:xfrm>
          <a:prstGeom prst="roundRect">
            <a:avLst>
              <a:gd name="adj" fmla="val 10323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48940" y="4709160"/>
            <a:ext cx="3200400" cy="841248"/>
          </a:xfrm>
          <a:prstGeom prst="roundRect">
            <a:avLst>
              <a:gd name="adj" fmla="val 17391"/>
            </a:avLst>
          </a:prstGeom>
          <a:solidFill>
            <a:srgbClr val="A78BFA"/>
          </a:solidFill>
          <a:ln/>
        </p:spPr>
      </p:sp>
      <p:sp>
        <p:nvSpPr>
          <p:cNvPr id="21" name="Shape 17"/>
          <p:cNvSpPr/>
          <p:nvPr/>
        </p:nvSpPr>
        <p:spPr>
          <a:xfrm>
            <a:off x="2948940" y="5129784"/>
            <a:ext cx="3200400" cy="420624"/>
          </a:xfrm>
          <a:prstGeom prst="rectangle">
            <a:avLst/>
          </a:prstGeom>
          <a:solidFill>
            <a:srgbClr val="A78BFA"/>
          </a:solidFill>
          <a:ln/>
        </p:spPr>
      </p:sp>
      <p:sp>
        <p:nvSpPr>
          <p:cNvPr id="22" name="Shape 18"/>
          <p:cNvSpPr/>
          <p:nvPr/>
        </p:nvSpPr>
        <p:spPr>
          <a:xfrm>
            <a:off x="3186684" y="49103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2" descr="/home/rayhanyovi/Documents/Projects/storybook/deck/icons/cube_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5556" y="5029200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735324" y="49103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packages/shared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3259836" y="5678424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TypeScript DTOs &amp; contracts</a:t>
            </a:r>
            <a:endParaRPr lang="en-US" sz="1200" dirty="0"/>
          </a:p>
          <a:p>
            <a:pPr marL="165100" indent="-1651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BookWithAccess · AccessResult · UserDTO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023360" y="251460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◀ HTTP / JSON ▶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4023360" y="3108960"/>
            <a:ext cx="1051560" cy="0"/>
          </a:xfrm>
          <a:prstGeom prst="line">
            <a:avLst/>
          </a:prstGeom>
          <a:noFill/>
          <a:ln w="22225">
            <a:solidFill>
              <a:srgbClr val="8A7A6D"/>
            </a:solidFill>
            <a:prstDash val="solid"/>
            <a:headEnd type="triangle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3909060" y="4709160"/>
            <a:ext cx="0" cy="-502920"/>
          </a:xfrm>
          <a:prstGeom prst="line">
            <a:avLst/>
          </a:prstGeom>
          <a:noFill/>
          <a:ln w="22225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5189220" y="4709160"/>
            <a:ext cx="0" cy="-502920"/>
          </a:xfrm>
          <a:prstGeom prst="line">
            <a:avLst/>
          </a:prstGeom>
          <a:noFill/>
          <a:ln w="22225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30" name="Text 25"/>
          <p:cNvSpPr/>
          <p:nvPr/>
        </p:nvSpPr>
        <p:spPr>
          <a:xfrm>
            <a:off x="6332220" y="5029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imported by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web + api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8915400" y="2011680"/>
            <a:ext cx="2727655" cy="4114800"/>
          </a:xfrm>
          <a:prstGeom prst="roundRect">
            <a:avLst>
              <a:gd name="adj" fmla="val 5364"/>
            </a:avLst>
          </a:prstGeom>
          <a:solidFill>
            <a:srgbClr val="3A2E28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0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8915400" y="2286000"/>
            <a:ext cx="2727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C93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16</a:t>
            </a:r>
            <a:endParaRPr lang="en-US" sz="5400" dirty="0"/>
          </a:p>
        </p:txBody>
      </p:sp>
      <p:sp>
        <p:nvSpPr>
          <p:cNvPr id="33" name="Text 28"/>
          <p:cNvSpPr/>
          <p:nvPr/>
        </p:nvSpPr>
        <p:spPr>
          <a:xfrm>
            <a:off x="8915400" y="3154680"/>
            <a:ext cx="2727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E3D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REST endpoints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9052560" y="3749040"/>
            <a:ext cx="245333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3E3D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Auth · books · content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3E3D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payments · library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3E3D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categories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3E3D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Role-gated, Zod-validated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Storybook</a:t>
            </a:r>
            <a:pPr algn="l" indent="0" marL="0">
              <a:buNone/>
            </a:pPr>
            <a:r>
              <a:rPr lang="en-US" sz="90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Product &amp; Engineering Submission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212494" cy="310896"/>
          </a:xfrm>
          <a:prstGeom prst="roundRect">
            <a:avLst>
              <a:gd name="adj" fmla="val 50000"/>
            </a:avLst>
          </a:prstGeom>
          <a:solidFill>
            <a:srgbClr val="FF7B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121249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Entities, and the decisions behind them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943600" cy="4297680"/>
          </a:xfrm>
          <a:prstGeom prst="roundRect">
            <a:avLst>
              <a:gd name="adj" fmla="val 3404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14884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BF3E7"/>
          </a:solidFill>
          <a:ln w="25400">
            <a:solidFill>
              <a:srgbClr val="FF7B54"/>
            </a:solidFill>
            <a:prstDash val="solid"/>
          </a:ln>
          <a:effectLst>
            <a:outerShdw sx="100000" sy="100000" kx="0" ky="0" algn="bl" rotWithShape="0" blurRad="50800" dist="12700" dir="5400000">
              <a:srgbClr val="3A2E28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2148840"/>
            <a:ext cx="146304" cy="914400"/>
          </a:xfrm>
          <a:prstGeom prst="roundRect">
            <a:avLst>
              <a:gd name="adj" fmla="val 37500"/>
            </a:avLst>
          </a:prstGeom>
          <a:solidFill>
            <a:srgbClr val="FF7B54"/>
          </a:solidFill>
          <a:ln/>
        </p:spPr>
      </p:sp>
      <p:sp>
        <p:nvSpPr>
          <p:cNvPr id="8" name="Text 6"/>
          <p:cNvSpPr/>
          <p:nvPr/>
        </p:nvSpPr>
        <p:spPr>
          <a:xfrm>
            <a:off x="1307592" y="22585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User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07592" y="262432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· onboarding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931920" y="214884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BF3E7"/>
          </a:solidFill>
          <a:ln w="25400">
            <a:solidFill>
              <a:srgbClr val="2EC4B6"/>
            </a:solidFill>
            <a:prstDash val="solid"/>
          </a:ln>
          <a:effectLst>
            <a:outerShdw sx="100000" sy="100000" kx="0" ky="0" algn="bl" rotWithShape="0" blurRad="50800" dist="12700" dir="5400000">
              <a:srgbClr val="3A2E28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31920" y="2148840"/>
            <a:ext cx="146304" cy="914400"/>
          </a:xfrm>
          <a:prstGeom prst="roundRect">
            <a:avLst>
              <a:gd name="adj" fmla="val 37500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4187952" y="22585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Book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187952" y="262432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· priceCents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51560" y="33832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BF3E7"/>
          </a:solidFill>
          <a:ln w="25400">
            <a:solidFill>
              <a:srgbClr val="4CB9E7"/>
            </a:solidFill>
            <a:prstDash val="solid"/>
          </a:ln>
          <a:effectLst>
            <a:outerShdw sx="100000" sy="100000" kx="0" ky="0" algn="bl" rotWithShape="0" blurRad="50800" dist="12700" dir="5400000">
              <a:srgbClr val="3A2E28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51560" y="3383280"/>
            <a:ext cx="146304" cy="914400"/>
          </a:xfrm>
          <a:prstGeom prst="roundRect">
            <a:avLst>
              <a:gd name="adj" fmla="val 37500"/>
            </a:avLst>
          </a:prstGeom>
          <a:solidFill>
            <a:srgbClr val="4CB9E7"/>
          </a:solidFill>
          <a:ln/>
        </p:spPr>
      </p:sp>
      <p:sp>
        <p:nvSpPr>
          <p:cNvPr id="16" name="Text 14"/>
          <p:cNvSpPr/>
          <p:nvPr/>
        </p:nvSpPr>
        <p:spPr>
          <a:xfrm>
            <a:off x="1307592" y="34930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Subscription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07592" y="385876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· expiresAt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931920" y="33832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BF3E7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50800" dist="12700" dir="5400000">
              <a:srgbClr val="3A2E28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31920" y="3383280"/>
            <a:ext cx="146304" cy="914400"/>
          </a:xfrm>
          <a:prstGeom prst="roundRect">
            <a:avLst>
              <a:gd name="adj" fmla="val 37500"/>
            </a:avLst>
          </a:prstGeom>
          <a:solidFill>
            <a:srgbClr val="A78BFA"/>
          </a:solidFill>
          <a:ln/>
        </p:spPr>
      </p:sp>
      <p:sp>
        <p:nvSpPr>
          <p:cNvPr id="20" name="Text 18"/>
          <p:cNvSpPr/>
          <p:nvPr/>
        </p:nvSpPr>
        <p:spPr>
          <a:xfrm>
            <a:off x="4187952" y="34930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Purchase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187952" y="385876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@@unique userId+bookId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51560" y="461772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BF3E7"/>
          </a:solidFill>
          <a:ln w="25400">
            <a:solidFill>
              <a:srgbClr val="FFC93C"/>
            </a:solidFill>
            <a:prstDash val="solid"/>
          </a:ln>
          <a:effectLst>
            <a:outerShdw sx="100000" sy="100000" kx="0" ky="0" algn="bl" rotWithShape="0" blurRad="50800" dist="12700" dir="5400000">
              <a:srgbClr val="3A2E28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51560" y="4617720"/>
            <a:ext cx="146304" cy="914400"/>
          </a:xfrm>
          <a:prstGeom prst="roundRect">
            <a:avLst>
              <a:gd name="adj" fmla="val 37500"/>
            </a:avLst>
          </a:prstGeom>
          <a:solidFill>
            <a:srgbClr val="FFC93C"/>
          </a:solidFill>
          <a:ln/>
        </p:spPr>
      </p:sp>
      <p:sp>
        <p:nvSpPr>
          <p:cNvPr id="24" name="Text 22"/>
          <p:cNvSpPr/>
          <p:nvPr/>
        </p:nvSpPr>
        <p:spPr>
          <a:xfrm>
            <a:off x="1307592" y="47274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Payment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307592" y="509320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idempotencyKey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931920" y="461772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BF3E7"/>
          </a:solidFill>
          <a:ln w="25400">
            <a:solidFill>
              <a:srgbClr val="7BC950"/>
            </a:solidFill>
            <a:prstDash val="solid"/>
          </a:ln>
          <a:effectLst>
            <a:outerShdw sx="100000" sy="100000" kx="0" ky="0" algn="bl" rotWithShape="0" blurRad="50800" dist="12700" dir="5400000">
              <a:srgbClr val="3A2E28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931920" y="4617720"/>
            <a:ext cx="146304" cy="914400"/>
          </a:xfrm>
          <a:prstGeom prst="roundRect">
            <a:avLst>
              <a:gd name="adj" fmla="val 37500"/>
            </a:avLst>
          </a:prstGeom>
          <a:solidFill>
            <a:srgbClr val="7BC950"/>
          </a:solidFill>
          <a:ln/>
        </p:spPr>
      </p:sp>
      <p:sp>
        <p:nvSpPr>
          <p:cNvPr id="28" name="Text 26"/>
          <p:cNvSpPr/>
          <p:nvPr/>
        </p:nvSpPr>
        <p:spPr>
          <a:xfrm>
            <a:off x="4187952" y="47274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BookPage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187952" y="509320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@@unique bookId+index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520440" y="2148840"/>
            <a:ext cx="411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1:N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0" y="1691640"/>
            <a:ext cx="4785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Design decisions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858000" y="2148840"/>
            <a:ext cx="4785055" cy="877824"/>
          </a:xfrm>
          <a:prstGeom prst="roundRect">
            <a:avLst>
              <a:gd name="adj" fmla="val 16667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63500" dist="25400" dir="5400000">
              <a:srgbClr val="3A2E28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059168" y="2359152"/>
            <a:ext cx="457200" cy="457200"/>
          </a:xfrm>
          <a:prstGeom prst="ellipse">
            <a:avLst/>
          </a:prstGeom>
          <a:solidFill>
            <a:srgbClr val="FF7B54"/>
          </a:solidFill>
          <a:ln/>
        </p:spPr>
      </p:sp>
      <p:pic>
        <p:nvPicPr>
          <p:cNvPr id="34" name="Image 0" descr="/home/rayhanyovi/Documents/Projects/storybook/deck/icons/ta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2478024"/>
            <a:ext cx="219456" cy="219456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7662672" y="2221992"/>
            <a:ext cx="38249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pricePaidCents snapshot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Purchase records the price paid — independent of later price changes.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858000" y="3118104"/>
            <a:ext cx="4785055" cy="877824"/>
          </a:xfrm>
          <a:prstGeom prst="roundRect">
            <a:avLst>
              <a:gd name="adj" fmla="val 16667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63500" dist="25400" dir="5400000">
              <a:srgbClr val="3A2E28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7059168" y="3328416"/>
            <a:ext cx="457200" cy="45720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38" name="Image 1" descr="/home/rayhanyovi/Documents/Projects/storybook/deck/icons/fingerpri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3447288"/>
            <a:ext cx="219456" cy="219456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7662672" y="3191256"/>
            <a:ext cx="38249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idempotencyKey on Payment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retried request can never double-charge.</a:t>
            </a:r>
            <a:endParaRPr lang="en-US" sz="1250" dirty="0"/>
          </a:p>
        </p:txBody>
      </p:sp>
      <p:sp>
        <p:nvSpPr>
          <p:cNvPr id="40" name="Shape 36"/>
          <p:cNvSpPr/>
          <p:nvPr/>
        </p:nvSpPr>
        <p:spPr>
          <a:xfrm>
            <a:off x="6858000" y="4087368"/>
            <a:ext cx="4785055" cy="877824"/>
          </a:xfrm>
          <a:prstGeom prst="roundRect">
            <a:avLst>
              <a:gd name="adj" fmla="val 16667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63500" dist="25400" dir="5400000">
              <a:srgbClr val="3A2E28">
                <a:alpha val="8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7059168" y="4297680"/>
            <a:ext cx="457200" cy="457200"/>
          </a:xfrm>
          <a:prstGeom prst="ellipse">
            <a:avLst/>
          </a:prstGeom>
          <a:solidFill>
            <a:srgbClr val="4CB9E7"/>
          </a:solidFill>
          <a:ln/>
        </p:spPr>
      </p:sp>
      <p:pic>
        <p:nvPicPr>
          <p:cNvPr id="42" name="Image 2" descr="/home/rayhanyovi/Documents/Projects/storybook/deck/icons/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4416552"/>
            <a:ext cx="219456" cy="219456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7662672" y="4160520"/>
            <a:ext cx="38249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expiresAt &gt; NOW() server-side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server never trusts client-held subscription state.</a:t>
            </a:r>
            <a:endParaRPr lang="en-US" sz="1250" dirty="0"/>
          </a:p>
        </p:txBody>
      </p:sp>
      <p:sp>
        <p:nvSpPr>
          <p:cNvPr id="44" name="Shape 39"/>
          <p:cNvSpPr/>
          <p:nvPr/>
        </p:nvSpPr>
        <p:spPr>
          <a:xfrm>
            <a:off x="6858000" y="5056632"/>
            <a:ext cx="4785055" cy="877824"/>
          </a:xfrm>
          <a:prstGeom prst="roundRect">
            <a:avLst>
              <a:gd name="adj" fmla="val 16667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63500" dist="25400" dir="5400000">
              <a:srgbClr val="3A2E28">
                <a:alpha val="80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7059168" y="5266944"/>
            <a:ext cx="457200" cy="457200"/>
          </a:xfrm>
          <a:prstGeom prst="ellipse">
            <a:avLst/>
          </a:prstGeom>
          <a:solidFill>
            <a:srgbClr val="7BC950"/>
          </a:solidFill>
          <a:ln/>
        </p:spPr>
      </p:sp>
      <p:pic>
        <p:nvPicPr>
          <p:cNvPr id="46" name="Image 3" descr="/home/rayhanyovi/Documents/Projects/storybook/deck/icons/hourglas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5385816"/>
            <a:ext cx="219456" cy="219456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7662672" y="5129784"/>
            <a:ext cx="38249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ARCHIVED soft-delete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Books are archived, never destroyed — ownership history survives.</a:t>
            </a:r>
            <a:endParaRPr lang="en-US" sz="1250" dirty="0"/>
          </a:p>
        </p:txBody>
      </p:sp>
      <p:sp>
        <p:nvSpPr>
          <p:cNvPr id="48" name="Text 42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Storybook</a:t>
            </a:r>
            <a:pPr algn="l" indent="0" marL="0">
              <a:buNone/>
            </a:pPr>
            <a:r>
              <a:rPr lang="en-US" sz="90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Product &amp; Engineering Submission</a:t>
            </a:r>
            <a:endParaRPr lang="en-US" sz="900" dirty="0"/>
          </a:p>
        </p:txBody>
      </p:sp>
      <p:sp>
        <p:nvSpPr>
          <p:cNvPr id="49" name="Text 43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385499" cy="310896"/>
          </a:xfrm>
          <a:prstGeom prst="roundRect">
            <a:avLst>
              <a:gd name="adj" fmla="val 50000"/>
            </a:avLst>
          </a:prstGeom>
          <a:solidFill>
            <a:srgbClr val="FF7B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13854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MONETIZATION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Two ways to pay — never merged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490874" cy="3246120"/>
          </a:xfrm>
          <a:prstGeom prst="roundRect">
            <a:avLst>
              <a:gd name="adj" fmla="val 4507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10029" y="2048256"/>
            <a:ext cx="768096" cy="768096"/>
          </a:xfrm>
          <a:prstGeom prst="ellipse">
            <a:avLst/>
          </a:prstGeom>
          <a:solidFill>
            <a:srgbClr val="7BC950"/>
          </a:solidFill>
          <a:ln/>
          <a:effectLst>
            <a:outerShdw sx="100000" sy="100000" kx="0" ky="0" algn="bl" rotWithShape="0" blurRad="63500" dist="25400" dir="5400000">
              <a:srgbClr val="3A2E28">
                <a:alpha val="13000"/>
              </a:srgbClr>
            </a:outerShdw>
          </a:effectLst>
        </p:spPr>
      </p:sp>
      <p:pic>
        <p:nvPicPr>
          <p:cNvPr id="7" name="Image 0" descr="/home/rayhanyovi/Documents/Projects/storybook/deck/icons/gif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9734" y="2247961"/>
            <a:ext cx="368686" cy="3686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962656"/>
            <a:ext cx="34908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Free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48640" y="3328416"/>
            <a:ext cx="34908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C95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Rp 0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621024"/>
            <a:ext cx="34908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Taste of product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05840" y="3986784"/>
            <a:ext cx="266791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Open to any logged-in user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Always accessible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Acquisition / discovery hook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50410" y="1627632"/>
            <a:ext cx="3490874" cy="3465576"/>
          </a:xfrm>
          <a:prstGeom prst="roundRect">
            <a:avLst>
              <a:gd name="adj" fmla="val 4222"/>
            </a:avLst>
          </a:prstGeom>
          <a:solidFill>
            <a:srgbClr val="3A2E28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18608" y="18288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C93C"/>
          </a:solidFill>
          <a:ln/>
        </p:spPr>
      </p:sp>
      <p:sp>
        <p:nvSpPr>
          <p:cNvPr id="14" name="Text 11"/>
          <p:cNvSpPr/>
          <p:nvPr/>
        </p:nvSpPr>
        <p:spPr>
          <a:xfrm>
            <a:off x="5318608" y="182880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60" kern="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MOST COMPLETE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711800" y="2304288"/>
            <a:ext cx="768096" cy="768096"/>
          </a:xfrm>
          <a:prstGeom prst="ellipse">
            <a:avLst/>
          </a:prstGeom>
          <a:solidFill>
            <a:srgbClr val="FF7B54"/>
          </a:solidFill>
          <a:ln/>
          <a:effectLst>
            <a:outerShdw sx="100000" sy="100000" kx="0" ky="0" algn="bl" rotWithShape="0" blurRad="63500" dist="25400" dir="5400000">
              <a:srgbClr val="3A2E28">
                <a:alpha val="13000"/>
              </a:srgbClr>
            </a:outerShdw>
          </a:effectLst>
        </p:spPr>
      </p:sp>
      <p:pic>
        <p:nvPicPr>
          <p:cNvPr id="16" name="Image 1" descr="/home/rayhanyovi/Documents/Projects/storybook/deck/icons/infinit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05" y="2503993"/>
            <a:ext cx="368686" cy="36868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50410" y="3218688"/>
            <a:ext cx="34908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Subscription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350410" y="3584448"/>
            <a:ext cx="34908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93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Rp 49.000 / mo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350410" y="3877056"/>
            <a:ext cx="34908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3E3D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whole library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807610" y="4242816"/>
            <a:ext cx="266791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3E3D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Unlimited access while active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3E3D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Includes books added later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3E3D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Renews +30 days, no error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152181" y="1737360"/>
            <a:ext cx="3490874" cy="3246120"/>
          </a:xfrm>
          <a:prstGeom prst="roundRect">
            <a:avLst>
              <a:gd name="adj" fmla="val 4507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9513570" y="2048256"/>
            <a:ext cx="768096" cy="768096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63500" dist="25400" dir="5400000">
              <a:srgbClr val="3A2E28">
                <a:alpha val="13000"/>
              </a:srgbClr>
            </a:outerShdw>
          </a:effectLst>
        </p:spPr>
      </p:sp>
      <p:pic>
        <p:nvPicPr>
          <p:cNvPr id="23" name="Image 2" descr="/home/rayhanyovi/Documents/Projects/storybook/deck/icons/crow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3275" y="2247961"/>
            <a:ext cx="368686" cy="36868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152181" y="2962656"/>
            <a:ext cx="34908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Buy-to-keep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8152181" y="3328416"/>
            <a:ext cx="34908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Per book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8152181" y="3621024"/>
            <a:ext cx="34908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Own it forever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609381" y="3986784"/>
            <a:ext cx="266791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Permanent ownership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Survives subscription churn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Buy even while subscribed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548640" y="5303520"/>
            <a:ext cx="11094415" cy="768096"/>
          </a:xfrm>
          <a:prstGeom prst="roundRect">
            <a:avLst>
              <a:gd name="adj" fmla="val 19048"/>
            </a:avLst>
          </a:prstGeom>
          <a:solidFill>
            <a:srgbClr val="FFEFC4"/>
          </a:solidFill>
          <a:ln/>
        </p:spPr>
      </p:sp>
      <p:pic>
        <p:nvPicPr>
          <p:cNvPr id="29" name="Image 3" descr="/home/rayhanyovi/Documents/Projects/storybook/deck/assets/scene_che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919472"/>
            <a:ext cx="1222370" cy="13716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2286000" y="5303520"/>
            <a:ext cx="908273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Ownership and subscription are independent entitlements. 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Tracked separately, never merged — so a cancelled subscriber still keeps every book they bought.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Storybook</a:t>
            </a:r>
            <a:pPr algn="l" indent="0" marL="0">
              <a:buNone/>
            </a:pPr>
            <a:r>
              <a:rPr lang="en-US" sz="90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Product &amp; Engineering Submission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72001" cy="310896"/>
          </a:xfrm>
          <a:prstGeom prst="roundRect">
            <a:avLst>
              <a:gd name="adj" fmla="val 50000"/>
            </a:avLst>
          </a:prstGeom>
          <a:solidFill>
            <a:srgbClr val="FF7B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147200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WHERE IT GOES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Now · Next · Later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490874" cy="3977640"/>
          </a:xfrm>
          <a:prstGeom prst="roundRect">
            <a:avLst>
              <a:gd name="adj" fmla="val 4191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3490874" cy="950976"/>
          </a:xfrm>
          <a:prstGeom prst="roundRect">
            <a:avLst>
              <a:gd name="adj" fmla="val 15385"/>
            </a:avLst>
          </a:prstGeom>
          <a:solidFill>
            <a:srgbClr val="58CC0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231136"/>
            <a:ext cx="3490874" cy="457200"/>
          </a:xfrm>
          <a:prstGeom prst="rectangle">
            <a:avLst/>
          </a:prstGeom>
          <a:solidFill>
            <a:srgbClr val="58CC02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975104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/home/rayhanyovi/Documents/Projects/storybook/deck/icons/check_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342" y="2103486"/>
            <a:ext cx="237012" cy="2370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44752" y="1920240"/>
            <a:ext cx="24850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Now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444752" y="2304288"/>
            <a:ext cx="24850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MVP — SHIPPED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77824" y="2871216"/>
            <a:ext cx="2832506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Three surfaces + PIN gate</a:t>
            </a:r>
            <a:endParaRPr lang="en-US" sz="118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Two monetization models</a:t>
            </a:r>
            <a:endParaRPr lang="en-US" sz="118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Buy-to-keep + renew</a:t>
            </a:r>
            <a:endParaRPr lang="en-US" sz="118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Paper-flip reader + reward</a:t>
            </a:r>
            <a:endParaRPr lang="en-US" sz="118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4-step onboarding</a:t>
            </a:r>
            <a:endParaRPr lang="en-US" sz="118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Admin CRUD</a:t>
            </a:r>
            <a:endParaRPr lang="en-US" sz="118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Access engine + 8 tests</a:t>
            </a:r>
            <a:endParaRPr lang="en-US" sz="1180" dirty="0"/>
          </a:p>
        </p:txBody>
      </p:sp>
      <p:sp>
        <p:nvSpPr>
          <p:cNvPr id="13" name="Shape 10"/>
          <p:cNvSpPr/>
          <p:nvPr/>
        </p:nvSpPr>
        <p:spPr>
          <a:xfrm>
            <a:off x="4350410" y="1737360"/>
            <a:ext cx="3490874" cy="3977640"/>
          </a:xfrm>
          <a:prstGeom prst="roundRect">
            <a:avLst>
              <a:gd name="adj" fmla="val 4191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50410" y="1737360"/>
            <a:ext cx="3490874" cy="950976"/>
          </a:xfrm>
          <a:prstGeom prst="roundRect">
            <a:avLst>
              <a:gd name="adj" fmla="val 15385"/>
            </a:avLst>
          </a:prstGeom>
          <a:solidFill>
            <a:srgbClr val="FF7B54"/>
          </a:solidFill>
          <a:ln/>
        </p:spPr>
      </p:sp>
      <p:sp>
        <p:nvSpPr>
          <p:cNvPr id="15" name="Shape 12"/>
          <p:cNvSpPr/>
          <p:nvPr/>
        </p:nvSpPr>
        <p:spPr>
          <a:xfrm>
            <a:off x="4350410" y="2231136"/>
            <a:ext cx="3490874" cy="457200"/>
          </a:xfrm>
          <a:prstGeom prst="rectangle">
            <a:avLst/>
          </a:prstGeom>
          <a:solidFill>
            <a:srgbClr val="FF7B54"/>
          </a:solidFill>
          <a:ln/>
        </p:spPr>
      </p:sp>
      <p:sp>
        <p:nvSpPr>
          <p:cNvPr id="16" name="Shape 13"/>
          <p:cNvSpPr/>
          <p:nvPr/>
        </p:nvSpPr>
        <p:spPr>
          <a:xfrm>
            <a:off x="4624730" y="1975104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1" descr="/home/rayhanyovi/Documents/Projects/storybook/deck/icons/rocket_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112" y="2103486"/>
            <a:ext cx="237012" cy="23701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46522" y="1920240"/>
            <a:ext cx="24850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Next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5246522" y="2304288"/>
            <a:ext cx="24850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POST-MVP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679594" y="2871216"/>
            <a:ext cx="2832506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Real illustrated art + audio</a:t>
            </a:r>
            <a:endParaRPr lang="en-US" sz="118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Word highlighting (pre-readers)</a:t>
            </a:r>
            <a:endParaRPr lang="en-US" sz="118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Multi-child profiles + history</a:t>
            </a:r>
            <a:endParaRPr lang="en-US" sz="118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Search · ID/EN localization</a:t>
            </a:r>
            <a:endParaRPr lang="en-US" sz="118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Analytics dashboard</a:t>
            </a:r>
            <a:endParaRPr lang="en-US" sz="118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Subscription tiers</a:t>
            </a:r>
            <a:endParaRPr lang="en-US" sz="1180" dirty="0"/>
          </a:p>
        </p:txBody>
      </p:sp>
      <p:sp>
        <p:nvSpPr>
          <p:cNvPr id="21" name="Shape 17"/>
          <p:cNvSpPr/>
          <p:nvPr/>
        </p:nvSpPr>
        <p:spPr>
          <a:xfrm>
            <a:off x="8152181" y="1737360"/>
            <a:ext cx="3490874" cy="3977640"/>
          </a:xfrm>
          <a:prstGeom prst="roundRect">
            <a:avLst>
              <a:gd name="adj" fmla="val 4191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152181" y="1737360"/>
            <a:ext cx="3490874" cy="950976"/>
          </a:xfrm>
          <a:prstGeom prst="roundRect">
            <a:avLst>
              <a:gd name="adj" fmla="val 15385"/>
            </a:avLst>
          </a:prstGeom>
          <a:solidFill>
            <a:srgbClr val="A78BFA"/>
          </a:solidFill>
          <a:ln/>
        </p:spPr>
      </p:sp>
      <p:sp>
        <p:nvSpPr>
          <p:cNvPr id="23" name="Shape 19"/>
          <p:cNvSpPr/>
          <p:nvPr/>
        </p:nvSpPr>
        <p:spPr>
          <a:xfrm>
            <a:off x="8152181" y="2231136"/>
            <a:ext cx="3490874" cy="457200"/>
          </a:xfrm>
          <a:prstGeom prst="rectangle">
            <a:avLst/>
          </a:prstGeom>
          <a:solidFill>
            <a:srgbClr val="A78BFA"/>
          </a:solidFill>
          <a:ln/>
        </p:spPr>
      </p:sp>
      <p:sp>
        <p:nvSpPr>
          <p:cNvPr id="24" name="Shape 20"/>
          <p:cNvSpPr/>
          <p:nvPr/>
        </p:nvSpPr>
        <p:spPr>
          <a:xfrm>
            <a:off x="8426501" y="1975104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2" descr="/home/rayhanyovi/Documents/Projects/storybook/deck/icons/compass_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883" y="2103486"/>
            <a:ext cx="237012" cy="23701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048293" y="1920240"/>
            <a:ext cx="24850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Later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9048293" y="2304288"/>
            <a:ext cx="24850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SCALE &amp; TRUST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8481365" y="2871216"/>
            <a:ext cx="2832506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Real payments + webhooks</a:t>
            </a:r>
            <a:endParaRPr lang="en-US" sz="118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Grace periods + refunds</a:t>
            </a:r>
            <a:endParaRPr lang="en-US" sz="118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COPPA / GDPR-K compliance</a:t>
            </a:r>
            <a:endParaRPr lang="en-US" sz="118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Screen Time / Family Link</a:t>
            </a:r>
            <a:endParaRPr lang="en-US" sz="118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Offline downloads · gifting</a:t>
            </a:r>
            <a:endParaRPr lang="en-US" sz="118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2E2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Teacher / classroom mode</a:t>
            </a:r>
            <a:endParaRPr lang="en-US" sz="1180" dirty="0"/>
          </a:p>
        </p:txBody>
      </p:sp>
      <p:sp>
        <p:nvSpPr>
          <p:cNvPr id="29" name="Text 24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Storybook</a:t>
            </a:r>
            <a:pPr algn="l" indent="0" marL="0">
              <a:buNone/>
            </a:pPr>
            <a:r>
              <a:rPr lang="en-US" sz="90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Product &amp; Engineering Submission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818010" cy="310896"/>
          </a:xfrm>
          <a:prstGeom prst="roundRect">
            <a:avLst>
              <a:gd name="adj" fmla="val 50000"/>
            </a:avLst>
          </a:prstGeom>
          <a:solidFill>
            <a:srgbClr val="FF7B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18180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MEASURING SUCCESS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Metrics tied to real events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4846320" cy="4114800"/>
          </a:xfrm>
          <a:prstGeom prst="roundRect">
            <a:avLst>
              <a:gd name="adj" fmla="val 3556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75104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Month-3 plan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30428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Acquisition → activation → revenue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77240" y="2651760"/>
          <a:ext cx="43891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760720" y="1737360"/>
            <a:ext cx="5882335" cy="731520"/>
          </a:xfrm>
          <a:prstGeom prst="roundRect">
            <a:avLst>
              <a:gd name="adj" fmla="val 20000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50800" dist="25400" dir="5400000">
              <a:srgbClr val="3A2E28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25312" y="1874520"/>
            <a:ext cx="457200" cy="457200"/>
          </a:xfrm>
          <a:prstGeom prst="ellipse">
            <a:avLst/>
          </a:prstGeom>
          <a:solidFill>
            <a:srgbClr val="FF7B54"/>
          </a:solidFill>
          <a:ln/>
        </p:spPr>
      </p:sp>
      <p:pic>
        <p:nvPicPr>
          <p:cNvPr id="11" name="Image 0" descr="/home/rayhanyovi/Documents/Projects/storybook/deck/icons/bo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184" y="199339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10528" y="1773936"/>
            <a:ext cx="49679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Activation   </a:t>
            </a:r>
            <a:pPr algn="l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New accounts that open ≥1 book in week 1 · read-content events ÷ new users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760720" y="2578608"/>
            <a:ext cx="5882335" cy="731520"/>
          </a:xfrm>
          <a:prstGeom prst="roundRect">
            <a:avLst>
              <a:gd name="adj" fmla="val 20000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50800" dist="25400" dir="5400000">
              <a:srgbClr val="3A2E28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25312" y="2715768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5" name="Image 1" descr="/home/rayhanyovi/Documents/Projects/storybook/deck/icons/exchan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4" y="2834640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10528" y="2615184"/>
            <a:ext cx="49679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Free → paid conversion   </a:t>
            </a:r>
            <a:pPr algn="l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First successful payment ÷ users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760720" y="3419856"/>
            <a:ext cx="5882335" cy="731520"/>
          </a:xfrm>
          <a:prstGeom prst="roundRect">
            <a:avLst>
              <a:gd name="adj" fmla="val 20000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50800" dist="25400" dir="5400000">
              <a:srgbClr val="3A2E28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925312" y="3557016"/>
            <a:ext cx="457200" cy="45720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19" name="Image 2" descr="/home/rayhanyovi/Documents/Projects/storybook/deck/icons/chartB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3675888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10528" y="3456432"/>
            <a:ext cx="49679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Monetization mix   </a:t>
            </a:r>
            <a:pPr algn="l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Revenue grouped by payment type (sub vs one-time)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760720" y="4261104"/>
            <a:ext cx="5882335" cy="731520"/>
          </a:xfrm>
          <a:prstGeom prst="roundRect">
            <a:avLst>
              <a:gd name="adj" fmla="val 20000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50800" dist="25400" dir="5400000">
              <a:srgbClr val="3A2E28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925312" y="4398264"/>
            <a:ext cx="457200" cy="457200"/>
          </a:xfrm>
          <a:prstGeom prst="ellipse">
            <a:avLst/>
          </a:prstGeom>
          <a:solidFill>
            <a:srgbClr val="4CB9E7"/>
          </a:solidFill>
          <a:ln/>
        </p:spPr>
      </p:sp>
      <p:pic>
        <p:nvPicPr>
          <p:cNvPr id="23" name="Image 3" descr="/home/rayhanyovi/Documents/Projects/storybook/deck/icons/sync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4184" y="4517136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510528" y="4297680"/>
            <a:ext cx="49679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Retention / churn   </a:t>
            </a:r>
            <a:pPr algn="l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Subscription renewals vs lapses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5760720" y="5102352"/>
            <a:ext cx="5882335" cy="731520"/>
          </a:xfrm>
          <a:prstGeom prst="roundRect">
            <a:avLst>
              <a:gd name="adj" fmla="val 20000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50800" dist="25400" dir="5400000">
              <a:srgbClr val="3A2E28">
                <a:alpha val="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5925312" y="5239512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27" name="Image 4" descr="/home/rayhanyovi/Documents/Projects/storybook/deck/icons/hear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4184" y="5358384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510528" y="5138928"/>
            <a:ext cx="49679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ARPU / LTV   </a:t>
            </a:r>
            <a:pPr algn="l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Revenue ÷ active users; cohort projection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Storybook</a:t>
            </a:r>
            <a:pPr algn="l" indent="0" marL="0">
              <a:buNone/>
            </a:pPr>
            <a:r>
              <a:rPr lang="en-US" sz="90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Product &amp; Engineering Submission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212494" cy="310896"/>
          </a:xfrm>
          <a:prstGeom prst="roundRect">
            <a:avLst>
              <a:gd name="adj" fmla="val 50000"/>
            </a:avLst>
          </a:prstGeom>
          <a:solidFill>
            <a:srgbClr val="FF7B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121249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TRADE-OFFS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What we cut — and why it’s the right cut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5410048" cy="841248"/>
          </a:xfrm>
          <a:prstGeom prst="roundRect">
            <a:avLst>
              <a:gd name="adj" fmla="val 17391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63500" dist="25400" dir="5400000">
              <a:srgbClr val="3A2E28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856232"/>
            <a:ext cx="457200" cy="457200"/>
          </a:xfrm>
          <a:prstGeom prst="ellipse">
            <a:avLst/>
          </a:prstGeom>
          <a:solidFill>
            <a:srgbClr val="FF7B54"/>
          </a:solidFill>
          <a:ln/>
        </p:spPr>
      </p:sp>
      <p:pic>
        <p:nvPicPr>
          <p:cNvPr id="7" name="Image 0" descr="/home/rayhanyovi/Documents/Projects/storybook/deck/icons/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75104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35024" y="1737360"/>
            <a:ext cx="444992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Mocked payments</a:t>
            </a:r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✕ Real Midtrans/Stripe</a:t>
            </a:r>
            <a:pPr algn="l" indent="0" marL="0">
              <a:lnSpc>
                <a:spcPct val="106000"/>
              </a:lnSpc>
              <a:buNone/>
            </a:pP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6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Proves access &amp; commerce flows without provider onboarding.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33008" y="1664208"/>
            <a:ext cx="5410048" cy="841248"/>
          </a:xfrm>
          <a:prstGeom prst="roundRect">
            <a:avLst>
              <a:gd name="adj" fmla="val 17391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63500" dist="25400" dir="5400000">
              <a:srgbClr val="3A2E28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34176" y="1856232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11" name="Image 1" descr="/home/rayhanyovi/Documents/Projects/storybook/deck/icons/fingerpri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48" y="197510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19392" y="1737360"/>
            <a:ext cx="444992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Client-side PIN (demo)</a:t>
            </a:r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✕ Hashed server PIN</a:t>
            </a:r>
            <a:pPr algn="l" indent="0" marL="0">
              <a:lnSpc>
                <a:spcPct val="106000"/>
              </a:lnSpc>
              <a:buNone/>
            </a:pP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6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Scoped for the demo; production moves it server-side.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2651760"/>
            <a:ext cx="5410048" cy="841248"/>
          </a:xfrm>
          <a:prstGeom prst="roundRect">
            <a:avLst>
              <a:gd name="adj" fmla="val 17391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63500" dist="25400" dir="5400000">
              <a:srgbClr val="3A2E28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49808" y="2843784"/>
            <a:ext cx="457200" cy="457200"/>
          </a:xfrm>
          <a:prstGeom prst="ellipse">
            <a:avLst/>
          </a:prstGeom>
          <a:solidFill>
            <a:srgbClr val="4CB9E7"/>
          </a:solidFill>
          <a:ln/>
        </p:spPr>
      </p:sp>
      <p:pic>
        <p:nvPicPr>
          <p:cNvPr id="15" name="Image 2" descr="/home/rayhanyovi/Documents/Projects/storybook/deck/icons/sync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962656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35024" y="2724912"/>
            <a:ext cx="444992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DB check per API call</a:t>
            </a:r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✕ Cache sub in JWT claims</a:t>
            </a:r>
            <a:pPr algn="l" indent="0" marL="0">
              <a:lnSpc>
                <a:spcPct val="106000"/>
              </a:lnSpc>
              <a:buNone/>
            </a:pP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6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Accuracy over speed — sub status can change any moment.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233008" y="2651760"/>
            <a:ext cx="5410048" cy="841248"/>
          </a:xfrm>
          <a:prstGeom prst="roundRect">
            <a:avLst>
              <a:gd name="adj" fmla="val 17391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63500" dist="25400" dir="5400000">
              <a:srgbClr val="3A2E28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434176" y="2843784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9" name="Image 3" descr="/home/rayhanyovi/Documents/Projects/storybook/deck/icons/feath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048" y="2962656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19392" y="2724912"/>
            <a:ext cx="444992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Audio narration cut</a:t>
            </a:r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✕ Ship with narration</a:t>
            </a:r>
            <a:pPr algn="l" indent="0" marL="0">
              <a:lnSpc>
                <a:spcPct val="106000"/>
              </a:lnSpc>
              <a:buNone/>
            </a:pP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6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Placeholder-first proves the model before content cost.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48640" y="3639312"/>
            <a:ext cx="5410048" cy="841248"/>
          </a:xfrm>
          <a:prstGeom prst="roundRect">
            <a:avLst>
              <a:gd name="adj" fmla="val 17391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63500" dist="25400" dir="5400000">
              <a:srgbClr val="3A2E28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49808" y="3831336"/>
            <a:ext cx="457200" cy="45720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23" name="Image 4" descr="/home/rayhanyovi/Documents/Projects/storybook/deck/icons/us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950208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35024" y="3712464"/>
            <a:ext cx="444992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Single-child assumption</a:t>
            </a:r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✕ Multi-child profiles</a:t>
            </a:r>
            <a:pPr algn="l" indent="0" marL="0">
              <a:lnSpc>
                <a:spcPct val="106000"/>
              </a:lnSpc>
              <a:buNone/>
            </a:pP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6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Valid for a first cohort; child-switching adds real UX cost.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233008" y="3639312"/>
            <a:ext cx="5410048" cy="841248"/>
          </a:xfrm>
          <a:prstGeom prst="roundRect">
            <a:avLst>
              <a:gd name="adj" fmla="val 17391"/>
            </a:avLst>
          </a:prstGeom>
          <a:solidFill>
            <a:srgbClr val="FFFDF9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63500" dist="25400" dir="5400000">
              <a:srgbClr val="3A2E28">
                <a:alpha val="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434176" y="3831336"/>
            <a:ext cx="457200" cy="457200"/>
          </a:xfrm>
          <a:prstGeom prst="ellipse">
            <a:avLst/>
          </a:prstGeom>
          <a:solidFill>
            <a:srgbClr val="7BC950"/>
          </a:solidFill>
          <a:ln/>
        </p:spPr>
      </p:sp>
      <p:pic>
        <p:nvPicPr>
          <p:cNvPr id="27" name="Image 5" descr="/home/rayhanyovi/Documents/Projects/storybook/deck/icons/bol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048" y="3950208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19392" y="3712464"/>
            <a:ext cx="444992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Filter, not search</a:t>
            </a:r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✕ Full search</a:t>
            </a:r>
            <a:pPr algn="l" indent="0" marL="0">
              <a:lnSpc>
                <a:spcPct val="106000"/>
              </a:lnSpc>
              <a:buNone/>
            </a:pP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6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Category + age covers discovery at 8-book scale.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Storybook</a:t>
            </a:r>
            <a:pPr algn="l" indent="0" marL="0">
              <a:buNone/>
            </a:pPr>
            <a:r>
              <a:rPr lang="en-US" sz="90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Product &amp; Engineering Submission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039490" cy="310896"/>
          </a:xfrm>
          <a:prstGeom prst="roundRect">
            <a:avLst>
              <a:gd name="adj" fmla="val 50000"/>
            </a:avLst>
          </a:prstGeom>
          <a:solidFill>
            <a:srgbClr val="FF7B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103949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AI USAGE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 pair programmer, not autopilot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Where AI helped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12064" cy="512064"/>
          </a:xfrm>
          <a:prstGeom prst="ellipse">
            <a:avLst/>
          </a:prstGeom>
          <a:solidFill>
            <a:srgbClr val="FF7B54"/>
          </a:solidFill>
          <a:ln/>
          <a:effectLst>
            <a:outerShdw sx="100000" sy="100000" kx="0" ky="0" algn="bl" rotWithShape="0" blurRad="63500" dist="25400" dir="5400000">
              <a:srgbClr val="3A2E28">
                <a:alpha val="13000"/>
              </a:srgbClr>
            </a:outerShdw>
          </a:effectLst>
        </p:spPr>
      </p:sp>
      <p:pic>
        <p:nvPicPr>
          <p:cNvPr id="7" name="Image 0" descr="/home/rayhanyovi/Documents/Projects/storybook/deck/icons/compas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777" y="2281977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25296" y="2093976"/>
            <a:ext cx="54498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Architecture validation</a:t>
            </a:r>
            <a:endParaRPr lang="en-US" sz="13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Designed the data model &amp; API by hand, then used AI to stress-test edge cases (idempotency, sub expiry).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008376"/>
            <a:ext cx="512064" cy="512064"/>
          </a:xfrm>
          <a:prstGeom prst="ellipse">
            <a:avLst/>
          </a:prstGeom>
          <a:solidFill>
            <a:srgbClr val="2EC4B6"/>
          </a:solidFill>
          <a:ln/>
          <a:effectLst>
            <a:outerShdw sx="100000" sy="100000" kx="0" ky="0" algn="bl" rotWithShape="0" blurRad="63500" dist="25400" dir="5400000">
              <a:srgbClr val="3A2E28">
                <a:alpha val="13000"/>
              </a:srgbClr>
            </a:outerShdw>
          </a:effectLst>
        </p:spPr>
      </p:sp>
      <p:pic>
        <p:nvPicPr>
          <p:cNvPr id="10" name="Image 1" descr="/home/rayhanyovi/Documents/Projects/storybook/deck/icons/puzz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77" y="3141513"/>
            <a:ext cx="245791" cy="2457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25296" y="2953512"/>
            <a:ext cx="54498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Component scaffolding</a:t>
            </a:r>
            <a:endParaRPr lang="en-US" sz="13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Generated shadcn boilerplate (ChunkyButton, ParentGate OTP), then iterated on states &amp; a11y.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867912"/>
            <a:ext cx="512064" cy="512064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63500" dist="25400" dir="5400000">
              <a:srgbClr val="3A2E28">
                <a:alpha val="13000"/>
              </a:srgbClr>
            </a:outerShdw>
          </a:effectLst>
        </p:spPr>
      </p:sp>
      <p:pic>
        <p:nvPicPr>
          <p:cNvPr id="13" name="Image 2" descr="/home/rayhanyovi/Documents/Projects/storybook/deck/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77" y="4001049"/>
            <a:ext cx="245791" cy="2457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25296" y="3813048"/>
            <a:ext cx="54498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Edge-case enumeration</a:t>
            </a:r>
            <a:endParaRPr lang="en-US" sz="13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Prompted for every access edge case, then validated the resolveAccess priority against them.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548640" y="4727448"/>
            <a:ext cx="512064" cy="512064"/>
          </a:xfrm>
          <a:prstGeom prst="ellipse">
            <a:avLst/>
          </a:prstGeom>
          <a:solidFill>
            <a:srgbClr val="FFC93C"/>
          </a:solidFill>
          <a:ln/>
          <a:effectLst>
            <a:outerShdw sx="100000" sy="100000" kx="0" ky="0" algn="bl" rotWithShape="0" blurRad="63500" dist="25400" dir="5400000">
              <a:srgbClr val="3A2E28">
                <a:alpha val="13000"/>
              </a:srgbClr>
            </a:outerShdw>
          </a:effectLst>
        </p:spPr>
      </p:sp>
      <p:pic>
        <p:nvPicPr>
          <p:cNvPr id="16" name="Image 3" descr="/home/rayhanyovi/Documents/Projects/storybook/deck/icons/magic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77" y="4860585"/>
            <a:ext cx="245791" cy="24579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25296" y="4672584"/>
            <a:ext cx="54498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UI polish iterations</a:t>
            </a:r>
            <a:endParaRPr lang="en-US" sz="13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Described intent in natural language; refined spacing, tokens, and responsive layout.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548640" y="5586984"/>
            <a:ext cx="512064" cy="512064"/>
          </a:xfrm>
          <a:prstGeom prst="ellipse">
            <a:avLst/>
          </a:prstGeom>
          <a:solidFill>
            <a:srgbClr val="4CB9E7"/>
          </a:solidFill>
          <a:ln/>
          <a:effectLst>
            <a:outerShdw sx="100000" sy="100000" kx="0" ky="0" algn="bl" rotWithShape="0" blurRad="63500" dist="25400" dir="5400000">
              <a:srgbClr val="3A2E28">
                <a:alpha val="13000"/>
              </a:srgbClr>
            </a:outerShdw>
          </a:effectLst>
        </p:spPr>
      </p:sp>
      <p:pic>
        <p:nvPicPr>
          <p:cNvPr id="19" name="Image 4" descr="/home/rayhanyovi/Documents/Projects/storybook/deck/icons/flas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777" y="5720121"/>
            <a:ext cx="245791" cy="24579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25296" y="5532120"/>
            <a:ext cx="54498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Test generation</a:t>
            </a:r>
            <a:endParaRPr lang="en-US" sz="13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Drafted the Vitest cases; reviewed each, and added the OWNED-before-SUBSCRIPTION test by hand.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7086600" y="1691640"/>
            <a:ext cx="4556455" cy="4297680"/>
          </a:xfrm>
          <a:prstGeom prst="roundRect">
            <a:avLst>
              <a:gd name="adj" fmla="val 3404"/>
            </a:avLst>
          </a:prstGeom>
          <a:solidFill>
            <a:srgbClr val="3A2E28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7379208" y="1984248"/>
            <a:ext cx="658368" cy="658368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23" name="Image 5" descr="/home/rayhanyovi/Documents/Projects/storybook/deck/icons/balance_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0384" y="2155424"/>
            <a:ext cx="316017" cy="316017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183880" y="1965960"/>
            <a:ext cx="3276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Where human judgment</a:t>
            </a:r>
            <a:endParaRPr lang="en-US" sz="1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overrode AI</a:t>
            </a:r>
            <a:endParaRPr lang="en-US" sz="1600" dirty="0"/>
          </a:p>
        </p:txBody>
      </p:sp>
      <p:sp>
        <p:nvSpPr>
          <p:cNvPr id="25" name="Shape 17"/>
          <p:cNvSpPr/>
          <p:nvPr/>
        </p:nvSpPr>
        <p:spPr>
          <a:xfrm>
            <a:off x="7397496" y="3008376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6" name="Image 6" descr="/home/rayhanyovi/Documents/Projects/storybook/deck/icons/checkPlain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2111" y="3082991"/>
            <a:ext cx="161666" cy="16166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836408" y="2935224"/>
            <a:ext cx="35963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C93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Moved the subscription check server-side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3E3D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AI suggested caching it in JWT claims for speed — accuracy won.</a:t>
            </a:r>
            <a:endParaRPr lang="en-US" sz="1250" dirty="0"/>
          </a:p>
        </p:txBody>
      </p:sp>
      <p:sp>
        <p:nvSpPr>
          <p:cNvPr id="28" name="Shape 19"/>
          <p:cNvSpPr/>
          <p:nvPr/>
        </p:nvSpPr>
        <p:spPr>
          <a:xfrm>
            <a:off x="7397496" y="3995928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9" name="Image 7" descr="/home/rayhanyovi/Documents/Projects/storybook/deck/icons/checkPlain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2111" y="4070543"/>
            <a:ext cx="161666" cy="161666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836408" y="3922776"/>
            <a:ext cx="35963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C93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Kept pricePaidCents on Purchase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3E3D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AI initially stored only bookId; price-at-purchase must persist.</a:t>
            </a:r>
            <a:endParaRPr lang="en-US" sz="1250" dirty="0"/>
          </a:p>
        </p:txBody>
      </p:sp>
      <p:sp>
        <p:nvSpPr>
          <p:cNvPr id="31" name="Shape 21"/>
          <p:cNvSpPr/>
          <p:nvPr/>
        </p:nvSpPr>
        <p:spPr>
          <a:xfrm>
            <a:off x="7397496" y="4983480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2" name="Image 8" descr="/home/rayhanyovi/Documents/Projects/storybook/deck/icons/checkPlain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72111" y="5058095"/>
            <a:ext cx="161666" cy="161666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7836408" y="4910328"/>
            <a:ext cx="35963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C93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Chose soft-delete (ARCHIVED)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3E3D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Physical delete would have destroyed ownership history.</a:t>
            </a:r>
            <a:endParaRPr lang="en-US" sz="1250" dirty="0"/>
          </a:p>
        </p:txBody>
      </p:sp>
      <p:sp>
        <p:nvSpPr>
          <p:cNvPr id="34" name="Text 23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Storybook</a:t>
            </a:r>
            <a:pPr algn="l" indent="0" marL="0">
              <a:buNone/>
            </a:pPr>
            <a:r>
              <a:rPr lang="en-US" sz="90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Product &amp; Engineering Submission</a:t>
            </a:r>
            <a:endParaRPr lang="en-US" sz="900" dirty="0"/>
          </a:p>
        </p:txBody>
      </p:sp>
      <p:sp>
        <p:nvSpPr>
          <p:cNvPr id="35" name="Text 24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1828800"/>
            <a:ext cx="2743200" cy="2743200"/>
          </a:xfrm>
          <a:prstGeom prst="ellipse">
            <a:avLst/>
          </a:prstGeom>
          <a:solidFill>
            <a:srgbClr val="D9F3EF"/>
          </a:solidFill>
          <a:ln/>
        </p:spPr>
      </p:sp>
      <p:pic>
        <p:nvPicPr>
          <p:cNvPr id="3" name="Image 0" descr="/home/rayhanyovi/Documents/Projects/storybook/deck/assets/oyen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1737360"/>
            <a:ext cx="2709157" cy="2788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640080"/>
            <a:ext cx="1291133" cy="310896"/>
          </a:xfrm>
          <a:prstGeom prst="roundRect">
            <a:avLst>
              <a:gd name="adj" fmla="val 50000"/>
            </a:avLst>
          </a:prstGeom>
          <a:solidFill>
            <a:srgbClr val="FF7B54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640080"/>
            <a:ext cx="129113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 SUMMARY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30352" y="10241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Built with no shortcuts on the hard parts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530352" cy="530352"/>
          </a:xfrm>
          <a:prstGeom prst="ellipse">
            <a:avLst/>
          </a:prstGeom>
          <a:solidFill>
            <a:srgbClr val="FF7B54"/>
          </a:solidFill>
          <a:ln/>
          <a:effectLst>
            <a:outerShdw sx="100000" sy="100000" kx="0" ky="0" algn="bl" rotWithShape="0" blurRad="63500" dist="25400" dir="5400000">
              <a:srgbClr val="3A2E28">
                <a:alpha val="13000"/>
              </a:srgbClr>
            </a:outerShdw>
          </a:effectLst>
        </p:spPr>
      </p:sp>
      <p:pic>
        <p:nvPicPr>
          <p:cNvPr id="8" name="Image 1" descr="/home/rayhanyovi/Documents/Projects/storybook/deck/icons/exchang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32" y="2012412"/>
            <a:ext cx="254569" cy="2545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43584" y="1819656"/>
            <a:ext cx="726033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Dual entitlement, clean</a:t>
            </a:r>
            <a:endParaRPr lang="en-US" sz="14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12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Subscription + buy-to-keep coexist; ownership survives churn &amp; archival.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715768"/>
            <a:ext cx="530352" cy="530352"/>
          </a:xfrm>
          <a:prstGeom prst="ellipse">
            <a:avLst/>
          </a:prstGeom>
          <a:solidFill>
            <a:srgbClr val="2EC4B6"/>
          </a:solidFill>
          <a:ln/>
          <a:effectLst>
            <a:outerShdw sx="100000" sy="100000" kx="0" ky="0" algn="bl" rotWithShape="0" blurRad="63500" dist="25400" dir="5400000">
              <a:srgbClr val="3A2E28">
                <a:alpha val="13000"/>
              </a:srgbClr>
            </a:outerShdw>
          </a:effectLst>
        </p:spPr>
      </p:sp>
      <p:pic>
        <p:nvPicPr>
          <p:cNvPr id="11" name="Image 2" descr="/home/rayhanyovi/Documents/Projects/storybook/deck/icons/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32" y="2853660"/>
            <a:ext cx="254569" cy="25456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43584" y="2660904"/>
            <a:ext cx="726033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Access engine, tested</a:t>
            </a:r>
            <a:endParaRPr lang="en-US" sz="14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12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One resolveAccess() with strict priority — 8 passing unit cases.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3557016"/>
            <a:ext cx="530352" cy="530352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63500" dist="25400" dir="5400000">
              <a:srgbClr val="3A2E28">
                <a:alpha val="13000"/>
              </a:srgbClr>
            </a:outerShdw>
          </a:effectLst>
        </p:spPr>
      </p:sp>
      <p:pic>
        <p:nvPicPr>
          <p:cNvPr id="14" name="Image 3" descr="/home/rayhanyovi/Documents/Projects/storybook/deck/icons/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532" y="3694908"/>
            <a:ext cx="254569" cy="25456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43584" y="3502152"/>
            <a:ext cx="726033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Kid mode is genuinely safe</a:t>
            </a:r>
            <a:endParaRPr lang="en-US" sz="14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12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Purchase UI is structurally absent; PIN gate throughout.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4398264"/>
            <a:ext cx="530352" cy="530352"/>
          </a:xfrm>
          <a:prstGeom prst="ellipse">
            <a:avLst/>
          </a:prstGeom>
          <a:solidFill>
            <a:srgbClr val="FFC93C"/>
          </a:solidFill>
          <a:ln/>
          <a:effectLst>
            <a:outerShdw sx="100000" sy="100000" kx="0" ky="0" algn="bl" rotWithShape="0" blurRad="63500" dist="25400" dir="5400000">
              <a:srgbClr val="3A2E28">
                <a:alpha val="13000"/>
              </a:srgbClr>
            </a:outerShdw>
          </a:effectLst>
        </p:spPr>
      </p:sp>
      <p:pic>
        <p:nvPicPr>
          <p:cNvPr id="17" name="Image 4" descr="/home/rayhanyovi/Documents/Projects/storybook/deck/icons/cub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532" y="4536156"/>
            <a:ext cx="254569" cy="25456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43584" y="4343400"/>
            <a:ext cx="726033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A2E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Shared type safety</a:t>
            </a:r>
            <a:endParaRPr lang="en-US" sz="14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120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One packages/shared — zero DTO duplication, strict TS everywhere.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548640" y="5413248"/>
            <a:ext cx="11094415" cy="960120"/>
          </a:xfrm>
          <a:prstGeom prst="roundRect">
            <a:avLst>
              <a:gd name="adj" fmla="val 15238"/>
            </a:avLst>
          </a:prstGeom>
          <a:solidFill>
            <a:srgbClr val="3A2E28"/>
          </a:solidFill>
          <a:ln w="12700">
            <a:solidFill>
              <a:srgbClr val="EC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28">
                <a:alpha val="14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822960" y="5669280"/>
            <a:ext cx="457200" cy="457200"/>
          </a:xfrm>
          <a:prstGeom prst="ellipse">
            <a:avLst/>
          </a:prstGeom>
          <a:solidFill>
            <a:srgbClr val="FF7B54"/>
          </a:solidFill>
          <a:ln/>
        </p:spPr>
      </p:sp>
      <p:pic>
        <p:nvPicPr>
          <p:cNvPr id="21" name="Image 5" descr="/home/rayhanyovi/Documents/Projects/storybook/deck/icons/use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5788152"/>
            <a:ext cx="219456" cy="21945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08176" y="5577840"/>
            <a:ext cx="269229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C93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Demo accounts</a:t>
            </a:r>
            <a:endParaRPr lang="en-US" sz="1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F3E3D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parent@demo.com · admin@demo.com · pw: password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4429658" y="5669280"/>
            <a:ext cx="457200" cy="457200"/>
          </a:xfrm>
          <a:prstGeom prst="ellipse">
            <a:avLst/>
          </a:prstGeom>
          <a:solidFill>
            <a:srgbClr val="FF7B54"/>
          </a:solidFill>
          <a:ln/>
        </p:spPr>
      </p:sp>
      <p:pic>
        <p:nvPicPr>
          <p:cNvPr id="24" name="Image 6" descr="/home/rayhanyovi/Documents/Projects/storybook/deck/icons/key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8530" y="5788152"/>
            <a:ext cx="219456" cy="21945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014874" y="5577840"/>
            <a:ext cx="269229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C93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Parent PIN</a:t>
            </a:r>
            <a:endParaRPr lang="en-US" sz="1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F3E3D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1234  (shown on the login screen for reviewers)</a:t>
            </a:r>
            <a:endParaRPr lang="en-US" sz="1200" dirty="0"/>
          </a:p>
        </p:txBody>
      </p:sp>
      <p:sp>
        <p:nvSpPr>
          <p:cNvPr id="26" name="Shape 17"/>
          <p:cNvSpPr/>
          <p:nvPr/>
        </p:nvSpPr>
        <p:spPr>
          <a:xfrm>
            <a:off x="8036357" y="5669280"/>
            <a:ext cx="457200" cy="457200"/>
          </a:xfrm>
          <a:prstGeom prst="ellipse">
            <a:avLst/>
          </a:prstGeom>
          <a:solidFill>
            <a:srgbClr val="FF7B54"/>
          </a:solidFill>
          <a:ln/>
        </p:spPr>
      </p:sp>
      <p:pic>
        <p:nvPicPr>
          <p:cNvPr id="27" name="Image 7" descr="/home/rayhanyovi/Documents/Projects/storybook/deck/icons/link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5229" y="5788152"/>
            <a:ext cx="219456" cy="219456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621573" y="5577840"/>
            <a:ext cx="269229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C93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Deploy targets</a:t>
            </a:r>
            <a:endParaRPr lang="en-US" sz="1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F3E3D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Render (API) + Vercel (web) — URLs to be added</a:t>
            </a:r>
            <a:endParaRPr lang="en-US" sz="1200" dirty="0"/>
          </a:p>
        </p:txBody>
      </p:sp>
      <p:sp>
        <p:nvSpPr>
          <p:cNvPr id="29" name="Text 19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7A6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Storybook — Product &amp; Engineering Submission</dc:title>
  <dc:subject>PptxGenJS Presentation</dc:subject>
  <dc:creator>Muhammad Rayhan Yovi</dc:creator>
  <cp:lastModifiedBy>Muhammad Rayhan Yovi</cp:lastModifiedBy>
  <cp:revision>1</cp:revision>
  <dcterms:created xsi:type="dcterms:W3CDTF">2026-06-07T06:34:55Z</dcterms:created>
  <dcterms:modified xsi:type="dcterms:W3CDTF">2026-06-07T06:34:55Z</dcterms:modified>
</cp:coreProperties>
</file>